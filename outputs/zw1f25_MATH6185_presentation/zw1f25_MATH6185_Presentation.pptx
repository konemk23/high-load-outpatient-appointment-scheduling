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942b92ed8345c8" /><Relationship Type="http://schemas.openxmlformats.org/officeDocument/2006/relationships/extended-properties" Target="/docProps/app.xml" Id="R0424c596cac2417a" /><Relationship Type="http://schemas.openxmlformats.org/officeDocument/2006/relationships/officeDocument" Target="/ppt/presentation.xml" Id="Rbdc181e5b2ec45a8" /></Relationships>
</file>

<file path=ppt/presentation.xml><?xml version="1.0" encoding="utf-8"?>
<p:presentation xmlns:p="http://schemas.openxmlformats.org/presentationml/2006/main">
  <p:sldMasterIdLst>
    <p:sldMasterId xmlns:r="http://schemas.openxmlformats.org/officeDocument/2006/relationships" id="2147483648" r:id="Rad2686231d48414c"/>
  </p:sldMasterIdLst>
  <p:notesMasterIdLst>
    <p:notesMasterId xmlns:r="http://schemas.openxmlformats.org/officeDocument/2006/relationships" r:id="R1ba61845c15a4ca4"/>
  </p:notesMasterIdLst>
  <p:sldIdLst>
    <p:sldId xmlns:r="http://schemas.openxmlformats.org/officeDocument/2006/relationships" id="256" r:id="R1238a6e8b6784a3c"/>
    <p:sldId xmlns:r="http://schemas.openxmlformats.org/officeDocument/2006/relationships" id="257" r:id="Rb4ec38084abc45c7"/>
    <p:sldId xmlns:r="http://schemas.openxmlformats.org/officeDocument/2006/relationships" id="258" r:id="R8b74978eed7f48ab"/>
    <p:sldId xmlns:r="http://schemas.openxmlformats.org/officeDocument/2006/relationships" id="259" r:id="R125ad4cd32034839"/>
    <p:sldId xmlns:r="http://schemas.openxmlformats.org/officeDocument/2006/relationships" id="260" r:id="R9fba14caa8e648d9"/>
    <p:sldId xmlns:r="http://schemas.openxmlformats.org/officeDocument/2006/relationships" id="261" r:id="Rf2c150fa0e9a4380"/>
    <p:sldId xmlns:r="http://schemas.openxmlformats.org/officeDocument/2006/relationships" id="262" r:id="R5637e4c3efc34fbc"/>
    <p:sldId xmlns:r="http://schemas.openxmlformats.org/officeDocument/2006/relationships" id="263" r:id="Rf039bebf0b824c70"/>
    <p:sldId xmlns:r="http://schemas.openxmlformats.org/officeDocument/2006/relationships" id="264" r:id="R7eca81657ca04483"/>
    <p:sldId xmlns:r="http://schemas.openxmlformats.org/officeDocument/2006/relationships" id="265" r:id="R018bd91ac2434cab"/>
    <p:sldId xmlns:r="http://schemas.openxmlformats.org/officeDocument/2006/relationships" id="266" r:id="R40bf23159abe497a"/>
    <p:sldId xmlns:r="http://schemas.openxmlformats.org/officeDocument/2006/relationships" id="267" r:id="R49b71bc722a749e7"/>
    <p:sldId xmlns:r="http://schemas.openxmlformats.org/officeDocument/2006/relationships" id="268" r:id="Rf5a3d85ce8844e69"/>
    <p:sldId xmlns:r="http://schemas.openxmlformats.org/officeDocument/2006/relationships" id="269" r:id="Rbd659914e51f4d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b27b2148504490" /><Relationship Type="http://schemas.openxmlformats.org/officeDocument/2006/relationships/slideMaster" Target="/ppt/slideMasters/slideMaster1.xml" Id="Rad2686231d48414c" /><Relationship Type="http://schemas.openxmlformats.org/officeDocument/2006/relationships/notesMaster" Target="/ppt/notesMasters/notesMaster1.xml" Id="R1ba61845c15a4ca4" /><Relationship Type="http://schemas.openxmlformats.org/officeDocument/2006/relationships/presProps" Target="/ppt/presProps.xml" Id="Rb0dd7161113344fe" /><Relationship Type="http://schemas.openxmlformats.org/officeDocument/2006/relationships/tableStyles" Target="/ppt/tableStyles.xml" Id="Rf1386c470b5246c1" /><Relationship Type="http://schemas.openxmlformats.org/officeDocument/2006/relationships/slide" Target="/ppt/slides/slide1.xml" Id="R1238a6e8b6784a3c" /><Relationship Type="http://schemas.openxmlformats.org/officeDocument/2006/relationships/slide" Target="/ppt/slides/slide2.xml" Id="Rb4ec38084abc45c7" /><Relationship Type="http://schemas.openxmlformats.org/officeDocument/2006/relationships/slide" Target="/ppt/slides/slide3.xml" Id="R8b74978eed7f48ab" /><Relationship Type="http://schemas.openxmlformats.org/officeDocument/2006/relationships/slide" Target="/ppt/slides/slide4.xml" Id="R125ad4cd32034839" /><Relationship Type="http://schemas.openxmlformats.org/officeDocument/2006/relationships/slide" Target="/ppt/slides/slide5.xml" Id="R9fba14caa8e648d9" /><Relationship Type="http://schemas.openxmlformats.org/officeDocument/2006/relationships/slide" Target="/ppt/slides/slide6.xml" Id="Rf2c150fa0e9a4380" /><Relationship Type="http://schemas.openxmlformats.org/officeDocument/2006/relationships/slide" Target="/ppt/slides/slide7.xml" Id="R5637e4c3efc34fbc" /><Relationship Type="http://schemas.openxmlformats.org/officeDocument/2006/relationships/slide" Target="/ppt/slides/slide8.xml" Id="Rf039bebf0b824c70" /><Relationship Type="http://schemas.openxmlformats.org/officeDocument/2006/relationships/slide" Target="/ppt/slides/slide9.xml" Id="R7eca81657ca04483" /><Relationship Type="http://schemas.openxmlformats.org/officeDocument/2006/relationships/slide" Target="/ppt/slides/slide10.xml" Id="R018bd91ac2434cab" /><Relationship Type="http://schemas.openxmlformats.org/officeDocument/2006/relationships/slide" Target="/ppt/slides/slide11.xml" Id="R40bf23159abe497a" /><Relationship Type="http://schemas.openxmlformats.org/officeDocument/2006/relationships/slide" Target="/ppt/slides/slide12.xml" Id="R49b71bc722a749e7" /><Relationship Type="http://schemas.openxmlformats.org/officeDocument/2006/relationships/slide" Target="/ppt/slides/slide13.xml" Id="Rf5a3d85ce8844e69" /><Relationship Type="http://schemas.openxmlformats.org/officeDocument/2006/relationships/slide" Target="/ppt/slides/slide14.xml" Id="Rbd659914e51f4d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0a24f57174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c5d49a5f3f46ea" /><Relationship Type="http://schemas.openxmlformats.org/officeDocument/2006/relationships/notesMaster" Target="/ppt/notesMasters/notesMaster1.xml" Id="R7d3d3108d84b4f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172bf36b7c463f" /><Relationship Type="http://schemas.openxmlformats.org/officeDocument/2006/relationships/notesMaster" Target="/ppt/notesMasters/notesMaster1.xml" Id="R15fa7dc4e9d344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57fd3de8414f1b" /><Relationship Type="http://schemas.openxmlformats.org/officeDocument/2006/relationships/notesMaster" Target="/ppt/notesMasters/notesMaster1.xml" Id="Re6285d30485043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1b862dac564b9b" /><Relationship Type="http://schemas.openxmlformats.org/officeDocument/2006/relationships/notesMaster" Target="/ppt/notesMasters/notesMaster1.xml" Id="R9d1476476dbc4f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644407e0da427b" /><Relationship Type="http://schemas.openxmlformats.org/officeDocument/2006/relationships/notesMaster" Target="/ppt/notesMasters/notesMaster1.xml" Id="R171952a91f9249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1d35c8b90c451d" /><Relationship Type="http://schemas.openxmlformats.org/officeDocument/2006/relationships/notesMaster" Target="/ppt/notesMasters/notesMaster1.xml" Id="R627196a299ba44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79182d99f24981" /><Relationship Type="http://schemas.openxmlformats.org/officeDocument/2006/relationships/notesMaster" Target="/ppt/notesMasters/notesMaster1.xml" Id="Rd6395bb2f5b949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082522ddfb4a1d" /><Relationship Type="http://schemas.openxmlformats.org/officeDocument/2006/relationships/notesMaster" Target="/ppt/notesMasters/notesMaster1.xml" Id="R75a150f8914346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f005ded4d44ea3" /><Relationship Type="http://schemas.openxmlformats.org/officeDocument/2006/relationships/notesMaster" Target="/ppt/notesMasters/notesMaster1.xml" Id="R8b93ff9d5d2c47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875b7f665d4e9b" /><Relationship Type="http://schemas.openxmlformats.org/officeDocument/2006/relationships/notesMaster" Target="/ppt/notesMasters/notesMaster1.xml" Id="R1aa361e3bda148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04cc2175694ccb" /><Relationship Type="http://schemas.openxmlformats.org/officeDocument/2006/relationships/notesMaster" Target="/ppt/notesMasters/notesMaster1.xml" Id="Rb1771820c63b49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f03c5cd5074d43" /><Relationship Type="http://schemas.openxmlformats.org/officeDocument/2006/relationships/notesMaster" Target="/ppt/notesMasters/notesMaster1.xml" Id="R8c8f1c1dea124a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4ccca9d90b4c3f" /><Relationship Type="http://schemas.openxmlformats.org/officeDocument/2006/relationships/notesMaster" Target="/ppt/notesMasters/notesMaster1.xml" Id="Rb274de3571544d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e835c92e0c4233" /><Relationship Type="http://schemas.openxmlformats.org/officeDocument/2006/relationships/notesMaster" Target="/ppt/notesMasters/notesMaster1.xml" Id="R6c44275674554e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project asks how a highly utilised outpatient clinic can reduce urgent patient waiting without pushing the overall mean above five days. I modelled the same demand and capacity under three policies: first-available scheduling as a benchmark, a workload-responsive protection rule, and an on-call routine rebooking policy. The main result is clear. The workload-responsive policy, Q3, gives the largest urgent-wait reduction: from 4.148 days under first-available scheduling to 2.123 days, a reduction of 48.8%. Its overall mean is 4.703 days, so the upper end of its 95% confidence interval is still below the five-day limit. However, routine waiting rises to 9.053 days. My recommendation is therefore Q3 for the stated objective, but only with a routine service-level guardrail.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difficulty is not a lack of scheduling logic; it is a lack of spare capacity. Urgent arrivals average 3.69 per day and routine arrivals 2.19 per day, against six daily appointment slots. That gives a nominal load of 0.98. In that setting, a policy cannot create meaningful urgent access without changing who waits or when capacity is released. The appointment-scheduling literature makes the same point in different forms: capacity reservation, dynamic priority and flexible rebooking can protect urgent demand, but every protection mechanism creates an opportunity cost. I therefore treat the problem as a trade-off rather than a search for a policy that improves every patient class at once. The evaluation objective is to minimise urgent mean waiting while keeping the overall mean at or below five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the core of the study. Under first-available scheduling, urgent, routine and overall mean waits are all about 4.148 days because the policy does not differentiate classes. Q3 changes that distribution substantially: urgent mean waiting falls to 2.123 days, while routine waiting rises to 9.053 days and the overall mean becomes 4.703 days. Q4 is more balanced, with urgent waiting at 4.009 days, routine waiting at 4.574 days and overall waiting at 4.219 days. All selected policies satisfy the five-day aggregate constraint. The reason I recommend Q3 is that the stated objective gives priority to urgent mean waiting, and Q3 improves that measure by roughly two days. The chart also makes the service risk visible: aggregate feasibility does not mean that the routine class is well 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models share the same arrival and capacity assumptions so that differences are attributable to policy logic. Urgent and routine patients arrive according to independent Poisson processes. Each policy assigns or modifies an appointment in a six-slot daily calendar, and waiting time is measured from arrival to appointment. I remove the first 1,000 served patients from the statistics as warm-up, then continue each replication until 50,000 arrivals. I ran 250 independent replications and report 95% confidence intervals. The target was a relative confidence-interval half-width of at most 5% for the overall mean. The selected results meet that target: 4.10% for Q2, 4.04% for Q3 and 3.49% for Q4. This design addresses both initial transient bias and Monte Carlo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Q2 is first-available scheduling. It is important because it establishes what happens when all patients compete for the earliest open slot without class protection. The overall mean is 4.148 days with a 95% confidence interval from 3.978 to 4.318 days. Urgent and routine means are essentially identical, which is exactly what we should expect from a pooled first-available rule. I also checked the warm-up choice. Using 500, 1,000 or 2,000 served patients produced overall means of 4.133, 4.148 and 4.172 days, with strongly overlapping confidence intervals. That does not prove the absence of every transient effect, but it shows the reported result is not sensitive to these reasonable warm-up choices. I therefore use Q2 as a stable and interpretable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Q3 protects urgent demand through a workload-responsive postponement rule. When the urgent backlog, N U, increases, selected routine appointments are moved back by the rounded value of alpha one times N U plus alpha two times N U squared. The selected setting is alpha one equal to zero and alpha two equal to 0.35, so protection grows nonlinearly with urgent congestion. The result is a large urgent improvement: mean waiting falls to 2.123 days, 48.8% below the FAS benchmark. The overall mean is 4.703 days and its 95% confidence interval ends at 4.893, so it remains feasible even under the conservative upper-limit check. The cost is clear: routine mean waiting rises to 9.053 days. This is not a hidden side effect; it is the mechanism by which scarce capacity is redirected.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Q4 uses on-call routine patients to recover released capacity. With eta equal to 0.2, L equal to zero and H equal to three, the policy protects near-term positions and then scans for unused slots at the end of the day. When a suitable slot is released, the oldest eligible on-call routine patient is brought forward. This preserves capacity use: appointment-slot utilisation is 97.911%. Rebooked patients save 0.515 days on average. However, the urgent mean is 4.009 days, only 0.139 days or 3.3% below FAS. Routine and overall means are 4.574 and 4.219 days. The interpretation is that flexible rebooking uses released capacity efficiently, but at a nominal load of 0.98 there is little genuinely spare capacity to release. Q4 is feasible and balanced, but it does not match Q3 on the stated urgent-wait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recommendation is Q3 because it best meets the objective I was given: minimise urgent mean waiting subject to an overall mean of no more than five days. Its urgent mean is 2.123 days, and the upper end of the overall 95% confidence interval is 4.893 days. The evidence is also sufficiently precise for this decision, with a 4.04% relative half-width. I would not implement the rule unchanged. The routine mean of 9.053 days shows that the aggregate constraint is too permissive, so an operational specification should add a maximum routine mean, a percentile service target, or explicit class weights. The model also assumes stationary demand, deterministic service and no no-shows, cancellations, deterioration or overtime. The next useful experiment is a hybrid policy that combines Q3's workload signal with controlled Q4-style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backup slide contains the full confidence intervals used in the report. The most important feasibility check is Q3 overall: its upper 95% confidence limit is 4.893 days, below the five-day constraint. The Q3 urgent interval is also far below the Q2 overall benchmark interval, supporting the conclusion that the reduction is material rather than a small Monte Carlo fluctuation.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three warm-up lengths for the FAS benchmark. The point estimates move only from 4.133 to 4.172 days, and the 95% confidence intervals overlap strongly. I therefore retained 1,000 served patients as a reasonable middle choice. This is a sensitivity check, not a formal proof that 1,000 is uniquely optimal.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Q3 screen increased the nonlinear coefficient while checking the aggregate feasibility condition. Alpha two equal to 0.35 was the strongest tested setting whose overall upper confidence limit remained below five days. Stronger protection increased routine and overall waiting beyond the feasible boundary. Because the search was finite, I describe this as the best tested policy rather than a proven global optimum.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Q4 screen showed that protecting four of six positions was too aggressive, so the final comparison focused on H equal to two or three. The submitted setting, eta 0.2, L zero and H three, is the row directly validated in AnyLogic with 250 replications. The other rows are event-equivalent screening estimates. I did not treat H two versus H three as a formal paired comparison because the estimates came from different execution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AnyLogic files preserve the same model boundary and output definitions. Q2 allocates the earliest available slot. Q3 adds a backlog-dependent postponement action for routine bookings. Q4 adds an end-of-day event that scans for releasable slots, selects the oldest eligible on-call routine patient and reduces that patient's delay. Keeping the rest of the model common makes the policy comparison interpretable.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was used to frame three ideas: appointment scheduling as a capacity-allocation problem, protection of urgent demand, and dynamic use of flexible capacity. AI assistance was used for drafting support, formatting and consistency checking. I made the modelling choices, ran and inspected the simulations, checked the numerical results and remain responsible for the final argument.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14d973124c45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583f4e816f4d29" /><Relationship Type="http://schemas.openxmlformats.org/officeDocument/2006/relationships/slideLayout" Target="/ppt/slideLayouts/slideLayout1.xml" Id="R998272dece9948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8272dece9948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89e7d77fb14614" /><Relationship Type="http://schemas.openxmlformats.org/officeDocument/2006/relationships/notesSlide" Target="/ppt/notesSlides/notesSlide1.xml" Id="R10435ba120cf40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928a6b87524acb" /><Relationship Type="http://schemas.openxmlformats.org/officeDocument/2006/relationships/notesSlide" Target="/ppt/notesSlides/notesSlide2.xml" Id="R55fe3868776140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5e3ca59f7944e3" /><Relationship Type="http://schemas.openxmlformats.org/officeDocument/2006/relationships/chart" Target="/ppt/slides/charts/chart1.xml" Id="Rd9c4b45994064e16" /><Relationship Type="http://schemas.openxmlformats.org/officeDocument/2006/relationships/notesSlide" Target="/ppt/notesSlides/notesSlide3.xml" Id="Rec75d327222d44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bbba6507c14a28" /><Relationship Type="http://schemas.openxmlformats.org/officeDocument/2006/relationships/notesSlide" Target="/ppt/notesSlides/notesSlide4.xml" Id="Rd910c21968fe47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492f7513204049" /><Relationship Type="http://schemas.openxmlformats.org/officeDocument/2006/relationships/notesSlide" Target="/ppt/notesSlides/notesSlide5.xml" Id="Rd9f933ea2e0d41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0d6cb9c4874aed" /><Relationship Type="http://schemas.openxmlformats.org/officeDocument/2006/relationships/notesSlide" Target="/ppt/notesSlides/notesSlide6.xml" Id="Ra1139f67555a40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2f7cf1787d471a" /><Relationship Type="http://schemas.openxmlformats.org/officeDocument/2006/relationships/notesSlide" Target="/ppt/notesSlides/notesSlide7.xml" Id="R134a15b44bdf49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b157eb50204125" /><Relationship Type="http://schemas.openxmlformats.org/officeDocument/2006/relationships/notesSlide" Target="/ppt/notesSlides/notesSlide8.xml" Id="Rba093c82a36541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0f5e80d8864965" /><Relationship Type="http://schemas.openxmlformats.org/officeDocument/2006/relationships/notesSlide" Target="/ppt/notesSlides/notesSlide9.xml" Id="Rd154677d49f446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d9be5435af4584" /><Relationship Type="http://schemas.openxmlformats.org/officeDocument/2006/relationships/notesSlide" Target="/ppt/notesSlides/notesSlide10.xml" Id="R9ec0f8c6920c4a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c9f2b1432340e7" /><Relationship Type="http://schemas.openxmlformats.org/officeDocument/2006/relationships/notesSlide" Target="/ppt/notesSlides/notesSlide11.xml" Id="R501e192728de45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e8ec7e47e74f30" /><Relationship Type="http://schemas.openxmlformats.org/officeDocument/2006/relationships/notesSlide" Target="/ppt/notesSlides/notesSlide12.xml" Id="Rb58e530822f240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ad41e32a734d25" /><Relationship Type="http://schemas.openxmlformats.org/officeDocument/2006/relationships/notesSlide" Target="/ppt/notesSlides/notesSlide13.xml" Id="R3d638c82428042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9c78dd59559497e" /><Relationship Type="http://schemas.openxmlformats.org/officeDocument/2006/relationships/notesSlide" Target="/ppt/notesSlides/notesSlide14.xml" Id="R9a3e862f9fc14bb7" /></Relationships>
</file>

<file path=ppt/slides/charts/chart1.xml><?xml version="1.0" encoding="utf-8"?>
<c:chartSpace xmlns:c="http://schemas.openxmlformats.org/drawingml/2006/chart">
  <c:lang val="en-US"/>
  <c:chart>
    <c:plotArea>
      <c:barChart>
        <c:barDir val="col"/>
        <c:grouping val="clustered"/>
        <c:varyColors val="0"/>
        <c:ser>
          <c:idx val="0"/>
          <c:order val="0"/>
          <c:tx>
            <c:v>Q2 FAS</c:v>
          </c:tx>
          <c:spPr>
            <a:solidFill xmlns:a="http://schemas.openxmlformats.org/drawingml/2006/main">
              <a:srgbClr val="687783"/>
            </a:solidFill>
          </c:spPr>
          <c:cat>
            <c:strLit>
              <c:ptCount val="3"/>
              <c:pt idx="0">
                <c:v>Urgent</c:v>
              </c:pt>
              <c:pt idx="1">
                <c:v>Routine</c:v>
              </c:pt>
              <c:pt idx="2">
                <c:v>Overall</c:v>
              </c:pt>
            </c:strLit>
          </c:cat>
          <c:val>
            <c:numLit>
              <c:formatCode>0.000</c:formatCode>
              <c:ptCount val="3"/>
              <c:pt idx="0">
                <c:v>4.147618857314027</c:v>
              </c:pt>
              <c:pt idx="1">
                <c:v>4.14819901597308</c:v>
              </c:pt>
              <c:pt idx="2">
                <c:v>4.147829551134296</c:v>
              </c:pt>
            </c:numLit>
          </c:val>
        </c:ser>
        <c:ser>
          <c:idx val="1"/>
          <c:order val="1"/>
          <c:tx>
            <c:v>Q3 workload-responsive</c:v>
          </c:tx>
          <c:spPr>
            <a:solidFill xmlns:a="http://schemas.openxmlformats.org/drawingml/2006/main">
              <a:srgbClr val="007F82"/>
            </a:solidFill>
          </c:spPr>
          <c:cat>
            <c:strLit>
              <c:ptCount val="3"/>
              <c:pt idx="0">
                <c:v>Urgent</c:v>
              </c:pt>
              <c:pt idx="1">
                <c:v>Routine</c:v>
              </c:pt>
              <c:pt idx="2">
                <c:v>Overall</c:v>
              </c:pt>
            </c:strLit>
          </c:cat>
          <c:val>
            <c:numLit>
              <c:formatCode>0.000</c:formatCode>
              <c:ptCount val="3"/>
              <c:pt idx="0">
                <c:v>2.123416974280667</c:v>
              </c:pt>
              <c:pt idx="1">
                <c:v>9.052809827419521</c:v>
              </c:pt>
              <c:pt idx="2">
                <c:v>4.702753976854765</c:v>
              </c:pt>
            </c:numLit>
          </c:val>
        </c:ser>
        <c:ser>
          <c:idx val="2"/>
          <c:order val="2"/>
          <c:tx>
            <c:v>Q4 on-call routine</c:v>
          </c:tx>
          <c:spPr>
            <a:solidFill xmlns:a="http://schemas.openxmlformats.org/drawingml/2006/main">
              <a:srgbClr val="17324D"/>
            </a:solidFill>
          </c:spPr>
          <c:cat>
            <c:strLit>
              <c:ptCount val="3"/>
              <c:pt idx="0">
                <c:v>Urgent</c:v>
              </c:pt>
              <c:pt idx="1">
                <c:v>Routine</c:v>
              </c:pt>
              <c:pt idx="2">
                <c:v>Overall</c:v>
              </c:pt>
            </c:strLit>
          </c:cat>
          <c:val>
            <c:numLit>
              <c:formatCode>0.000</c:formatCode>
              <c:ptCount val="3"/>
              <c:pt idx="0">
                <c:v>4.0090591696293085</c:v>
              </c:pt>
              <c:pt idx="1">
                <c:v>4.573754083738393</c:v>
              </c:pt>
              <c:pt idx="2">
                <c:v>4.219449679893367</c:v>
              </c:pt>
            </c:numLit>
          </c:val>
        </c:ser>
        <c:dLbls>
          <c:txPr>
            <a:bodyPr xmlns:a="http://schemas.openxmlformats.org/drawingml/2006/main" anchorCtr="1"/>
            <a:lstStyle xmlns:a="http://schemas.openxmlformats.org/drawingml/2006/main"/>
            <a:p xmlns:a="http://schemas.openxmlformats.org/drawingml/2006/main">
              <a:pPr>
                <a:defRPr sz="1125" b="1">
                  <a:solidFill>
                    <a:srgbClr val="18222C"/>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7DC"/>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8222C"/>
                </a:solidFill>
              </a:defRPr>
            </a:pPr>
          </a:p>
        </c:txPr>
        <c:crossAx val="48672768"/>
        <c:lblAlgn val="ctr"/>
        <c:lblOffset val="100"/>
        <c:noMultiLvlLbl val="0"/>
      </c:catAx>
      <c:valAx>
        <c:axId val="48672768"/>
        <c:scaling>
          <c:orientation val="minMax"/>
          <c:max val="10"/>
          <c:min val="0"/>
        </c:scaling>
        <c:delete val="0"/>
        <c:axPos val="l"/>
        <c:majorGridlines>
          <c:spPr>
            <a:ln xmlns:a="http://schemas.openxmlformats.org/drawingml/2006/main" w="9525">
              <a:solidFill>
                <a:srgbClr val="EEF2F4"/>
              </a:solidFill>
              <a:prstDash val="solid"/>
            </a:ln>
          </c:spPr>
        </c:majorGridlines>
        <c:numFmt formatCode="0"/>
        <c:majorTickMark val="none"/>
        <c:minorTickMark val="none"/>
        <c:tickLblPos val="none"/>
        <c:spPr>
          <a:ln xmlns:a="http://schemas.openxmlformats.org/drawingml/2006/main" w="9525">
            <a:solidFill>
              <a:srgbClr val="CDD7DC"/>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87783"/>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155BE2-E33D-40D4-8806-03F58661C0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581255-7B70-4E11-8079-C6819955A67D}"/>
              </a:ext>
            </a:extLst>
          </p:cNvPr>
          <p:cNvSpPr>
            <a:spLocks xmlns:a="http://schemas.openxmlformats.org/drawingml/2006/main" noGrp="1"/>
          </p:cNvSpPr>
          <p:nvPr/>
        </p:nvSpPr>
        <p:spPr>
          <a:xfrm xmlns:a="http://schemas.openxmlformats.org/drawingml/2006/main">
            <a:off x="781050" y="5905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A9D7D8"/>
                </a:solidFill>
                <a:latin typeface="Aptos"/>
                <a:ea typeface="Aptos"/>
                <a:cs typeface="Aptos"/>
              </a:defRPr>
            </a:pPr>
            <a:r>
              <a:rPr sz="1275" b="1">
                <a:solidFill>
                  <a:srgbClr val="A9D7D8"/>
                </a:solidFill>
                <a:latin typeface="Aptos"/>
                <a:ea typeface="Aptos"/>
                <a:cs typeface="Aptos"/>
              </a:rPr>
              <a:t>MATH6185 | CASE STUDY 1</a:t>
            </a:r>
          </a:p>
        </p:txBody>
      </p:sp>
      <p:sp>
        <p:nvSpPr>
          <p:cNvPr id="3" name="">
            <a:extLst xmlns:a="http://schemas.openxmlformats.org/drawingml/2006/main">
              <a:ext uri="{FF2B5EF4-FFF2-40B4-BE49-F238E27FC236}">
                <a16:creationId xmlns:a16="http://schemas.microsoft.com/office/drawing/2014/main" id="{B970B861-1AB5-4782-9A75-B627B3EDB0F2}"/>
              </a:ext>
            </a:extLst>
          </p:cNvPr>
          <p:cNvSpPr>
            <a:spLocks xmlns:a="http://schemas.openxmlformats.org/drawingml/2006/main" noGrp="1"/>
          </p:cNvSpPr>
          <p:nvPr/>
        </p:nvSpPr>
        <p:spPr>
          <a:xfrm xmlns:a="http://schemas.openxmlformats.org/drawingml/2006/main">
            <a:off x="781050" y="1257300"/>
            <a:ext cx="6953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Reducing urgent waits</a:t>
            </a:r>
          </a:p>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without overloading the clinic</a:t>
            </a:r>
          </a:p>
        </p:txBody>
      </p:sp>
      <p:sp>
        <p:nvSpPr>
          <p:cNvPr id="4" name="">
            <a:extLst xmlns:a="http://schemas.openxmlformats.org/drawingml/2006/main">
              <a:ext uri="{FF2B5EF4-FFF2-40B4-BE49-F238E27FC236}">
                <a16:creationId xmlns:a16="http://schemas.microsoft.com/office/drawing/2014/main" id="{7C9126CF-4577-42F7-AE0A-571C5E618F53}"/>
              </a:ext>
            </a:extLst>
          </p:cNvPr>
          <p:cNvSpPr>
            <a:spLocks xmlns:a="http://schemas.openxmlformats.org/drawingml/2006/main" noGrp="1"/>
          </p:cNvSpPr>
          <p:nvPr/>
        </p:nvSpPr>
        <p:spPr>
          <a:xfrm xmlns:a="http://schemas.openxmlformats.org/drawingml/2006/main">
            <a:off x="800100" y="30289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CE7ED"/>
                </a:solidFill>
                <a:latin typeface="Aptos"/>
                <a:ea typeface="Aptos"/>
                <a:cs typeface="Aptos"/>
              </a:defRPr>
            </a:pPr>
            <a:r>
              <a:rPr sz="1800" b="0">
                <a:solidFill>
                  <a:srgbClr val="DCE7ED"/>
                </a:solidFill>
                <a:latin typeface="Aptos"/>
                <a:ea typeface="Aptos"/>
                <a:cs typeface="Aptos"/>
              </a:rPr>
              <a:t>A discrete-event simulation study of three appointment policies</a:t>
            </a:r>
          </a:p>
        </p:txBody>
      </p:sp>
      <p:sp>
        <p:nvSpPr>
          <p:cNvPr id="5" name="">
            <a:extLst xmlns:a="http://schemas.openxmlformats.org/drawingml/2006/main">
              <a:ext uri="{FF2B5EF4-FFF2-40B4-BE49-F238E27FC236}">
                <a16:creationId xmlns:a16="http://schemas.microsoft.com/office/drawing/2014/main" id="{75F2461A-CAA3-43D4-8282-2DD3A09E04BF}"/>
              </a:ext>
            </a:extLst>
          </p:cNvPr>
          <p:cNvSpPr>
            <a:spLocks xmlns:a="http://schemas.openxmlformats.org/drawingml/2006/main" noGrp="1"/>
          </p:cNvSpPr>
          <p:nvPr/>
        </p:nvSpPr>
        <p:spPr>
          <a:xfrm xmlns:a="http://schemas.openxmlformats.org/drawingml/2006/main">
            <a:off x="8401050" y="1123950"/>
            <a:ext cx="2419350" cy="3143250"/>
          </a:xfrm>
          <a:prstGeom xmlns:a="http://schemas.openxmlformats.org/drawingml/2006/main" prst="roundRect">
            <a:avLst>
              <a:gd name="adj" fmla="val 11024"/>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28753E-867B-47DC-9103-07FF0721F618}"/>
              </a:ext>
            </a:extLst>
          </p:cNvPr>
          <p:cNvSpPr>
            <a:spLocks xmlns:a="http://schemas.openxmlformats.org/drawingml/2006/main" noGrp="1"/>
          </p:cNvSpPr>
          <p:nvPr/>
        </p:nvSpPr>
        <p:spPr>
          <a:xfrm xmlns:a="http://schemas.openxmlformats.org/drawingml/2006/main">
            <a:off x="8667750" y="1571625"/>
            <a:ext cx="1885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4350" b="1">
                <a:solidFill>
                  <a:srgbClr val="007F82"/>
                </a:solidFill>
                <a:latin typeface="Aptos Display"/>
                <a:ea typeface="Aptos Display"/>
                <a:cs typeface="Aptos Display"/>
              </a:defRPr>
            </a:pPr>
            <a:r>
              <a:rPr sz="4350" b="1">
                <a:solidFill>
                  <a:srgbClr val="007F82"/>
                </a:solidFill>
                <a:latin typeface="Aptos Display"/>
                <a:ea typeface="Aptos Display"/>
                <a:cs typeface="Aptos Display"/>
              </a:rPr>
              <a:t>48.8%</a:t>
            </a:r>
          </a:p>
        </p:txBody>
      </p:sp>
      <p:sp>
        <p:nvSpPr>
          <p:cNvPr id="7" name="">
            <a:extLst xmlns:a="http://schemas.openxmlformats.org/drawingml/2006/main">
              <a:ext uri="{FF2B5EF4-FFF2-40B4-BE49-F238E27FC236}">
                <a16:creationId xmlns:a16="http://schemas.microsoft.com/office/drawing/2014/main" id="{FE8BAAD3-7216-4C3C-8A14-998EDE5E6792}"/>
              </a:ext>
            </a:extLst>
          </p:cNvPr>
          <p:cNvSpPr>
            <a:spLocks xmlns:a="http://schemas.openxmlformats.org/drawingml/2006/main" noGrp="1"/>
          </p:cNvSpPr>
          <p:nvPr/>
        </p:nvSpPr>
        <p:spPr>
          <a:xfrm xmlns:a="http://schemas.openxmlformats.org/drawingml/2006/main">
            <a:off x="8667750" y="24193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324D"/>
                </a:solidFill>
                <a:latin typeface="Aptos"/>
                <a:ea typeface="Aptos"/>
                <a:cs typeface="Aptos"/>
              </a:defRPr>
            </a:pPr>
            <a:r>
              <a:rPr sz="1650" b="1">
                <a:solidFill>
                  <a:srgbClr val="17324D"/>
                </a:solidFill>
                <a:latin typeface="Aptos"/>
                <a:ea typeface="Aptos"/>
                <a:cs typeface="Aptos"/>
              </a:rPr>
              <a:t>lower urgent mean</a:t>
            </a:r>
          </a:p>
          <a:p xmlns:a="http://schemas.openxmlformats.org/drawingml/2006/main">
            <a:pPr algn="ctr">
              <a:defRPr sz="1650" b="1">
                <a:solidFill>
                  <a:srgbClr val="17324D"/>
                </a:solidFill>
                <a:latin typeface="Aptos"/>
                <a:ea typeface="Aptos"/>
                <a:cs typeface="Aptos"/>
              </a:defRPr>
            </a:pPr>
            <a:r>
              <a:rPr sz="1650" b="1">
                <a:solidFill>
                  <a:srgbClr val="17324D"/>
                </a:solidFill>
                <a:latin typeface="Aptos"/>
                <a:ea typeface="Aptos"/>
                <a:cs typeface="Aptos"/>
              </a:rPr>
              <a:t>under Q3</a:t>
            </a:r>
          </a:p>
        </p:txBody>
      </p:sp>
      <p:sp>
        <p:nvSpPr>
          <p:cNvPr id="8" name="">
            <a:extLst xmlns:a="http://schemas.openxmlformats.org/drawingml/2006/main">
              <a:ext uri="{FF2B5EF4-FFF2-40B4-BE49-F238E27FC236}">
                <a16:creationId xmlns:a16="http://schemas.microsoft.com/office/drawing/2014/main" id="{1AB6D327-0A4F-408C-9B03-291142258C0F}"/>
              </a:ext>
            </a:extLst>
          </p:cNvPr>
          <p:cNvSpPr>
            <a:spLocks xmlns:a="http://schemas.openxmlformats.org/drawingml/2006/main" noGrp="1"/>
          </p:cNvSpPr>
          <p:nvPr/>
        </p:nvSpPr>
        <p:spPr>
          <a:xfrm xmlns:a="http://schemas.openxmlformats.org/drawingml/2006/main">
            <a:off x="8734425" y="3295650"/>
            <a:ext cx="1752600" cy="19050"/>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647AE75-8B7B-4E99-A90F-210E3C3A44B3}"/>
              </a:ext>
            </a:extLst>
          </p:cNvPr>
          <p:cNvSpPr>
            <a:spLocks xmlns:a="http://schemas.openxmlformats.org/drawingml/2006/main" noGrp="1"/>
          </p:cNvSpPr>
          <p:nvPr/>
        </p:nvSpPr>
        <p:spPr>
          <a:xfrm xmlns:a="http://schemas.openxmlformats.org/drawingml/2006/main">
            <a:off x="8667750" y="352425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B23A48"/>
                </a:solidFill>
                <a:latin typeface="Aptos"/>
                <a:ea typeface="Aptos"/>
                <a:cs typeface="Aptos"/>
              </a:defRPr>
            </a:pPr>
            <a:r>
              <a:rPr sz="1275" b="1">
                <a:solidFill>
                  <a:srgbClr val="B23A48"/>
                </a:solidFill>
                <a:latin typeface="Aptos"/>
                <a:ea typeface="Aptos"/>
                <a:cs typeface="Aptos"/>
              </a:rPr>
              <a:t>Routine mean rises</a:t>
            </a:r>
          </a:p>
          <a:p xmlns:a="http://schemas.openxmlformats.org/drawingml/2006/main">
            <a:pPr algn="ctr">
              <a:defRPr sz="1275" b="1">
                <a:solidFill>
                  <a:srgbClr val="B23A48"/>
                </a:solidFill>
                <a:latin typeface="Aptos"/>
                <a:ea typeface="Aptos"/>
                <a:cs typeface="Aptos"/>
              </a:defRPr>
            </a:pPr>
            <a:r>
              <a:rPr sz="1275" b="1">
                <a:solidFill>
                  <a:srgbClr val="B23A48"/>
                </a:solidFill>
                <a:latin typeface="Aptos"/>
                <a:ea typeface="Aptos"/>
                <a:cs typeface="Aptos"/>
              </a:rPr>
              <a:t>to 9.053 days</a:t>
            </a:r>
          </a:p>
        </p:txBody>
      </p:sp>
      <p:sp>
        <p:nvSpPr>
          <p:cNvPr id="10" name="">
            <a:extLst xmlns:a="http://schemas.openxmlformats.org/drawingml/2006/main">
              <a:ext uri="{FF2B5EF4-FFF2-40B4-BE49-F238E27FC236}">
                <a16:creationId xmlns:a16="http://schemas.microsoft.com/office/drawing/2014/main" id="{66148EBC-4999-4756-897E-DDDEF5DCE484}"/>
              </a:ext>
            </a:extLst>
          </p:cNvPr>
          <p:cNvSpPr>
            <a:spLocks xmlns:a="http://schemas.openxmlformats.org/drawingml/2006/main" noGrp="1"/>
          </p:cNvSpPr>
          <p:nvPr/>
        </p:nvSpPr>
        <p:spPr>
          <a:xfrm xmlns:a="http://schemas.openxmlformats.org/drawingml/2006/main">
            <a:off x="800100" y="59436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CE7ED"/>
                </a:solidFill>
                <a:latin typeface="Aptos"/>
                <a:ea typeface="Aptos"/>
                <a:cs typeface="Aptos"/>
              </a:defRPr>
            </a:pPr>
            <a:r>
              <a:rPr sz="1350" b="0">
                <a:solidFill>
                  <a:srgbClr val="DCE7ED"/>
                </a:solidFill>
                <a:latin typeface="Aptos"/>
                <a:ea typeface="Aptos"/>
                <a:cs typeface="Aptos"/>
              </a:rPr>
              <a:t>MATH6185 Case Study 1 | zw1f25</a:t>
            </a:r>
          </a:p>
        </p:txBody>
      </p:sp>
    </p:spTree>
    <p:extLst>
      <p:ext uri="{BB962C8B-B14F-4D97-AF65-F5344CB8AC3E}">
        <p14:creationId xmlns:p14="http://schemas.microsoft.com/office/powerpoint/2010/main" val="5278681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2290894-A45A-4C1C-83FD-5C6D7E54A7F9}"/>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At 98% nominal load, priority must be created rather than found</a:t>
            </a:r>
          </a:p>
        </p:txBody>
      </p:sp>
      <p:sp>
        <p:nvSpPr>
          <p:cNvPr id="2" name="">
            <a:extLst xmlns:a="http://schemas.openxmlformats.org/drawingml/2006/main">
              <a:ext uri="{FF2B5EF4-FFF2-40B4-BE49-F238E27FC236}">
                <a16:creationId xmlns:a16="http://schemas.microsoft.com/office/drawing/2014/main" id="{11488FE8-FBED-4270-B21A-4D2A51870AFF}"/>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004DF8-E151-4471-8832-5590D6DD6F7E}"/>
              </a:ext>
            </a:extLst>
          </p:cNvPr>
          <p:cNvSpPr>
            <a:spLocks xmlns:a="http://schemas.openxmlformats.org/drawingml/2006/main" noGrp="1"/>
          </p:cNvSpPr>
          <p:nvPr/>
        </p:nvSpPr>
        <p:spPr>
          <a:xfrm xmlns:a="http://schemas.openxmlformats.org/drawingml/2006/main">
            <a:off x="800100" y="1695450"/>
            <a:ext cx="276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6150" b="1">
                <a:solidFill>
                  <a:srgbClr val="007F82"/>
                </a:solidFill>
                <a:latin typeface="Aptos Display"/>
                <a:ea typeface="Aptos Display"/>
                <a:cs typeface="Aptos Display"/>
              </a:defRPr>
            </a:pPr>
            <a:r>
              <a:rPr sz="6150" b="1">
                <a:solidFill>
                  <a:srgbClr val="007F82"/>
                </a:solidFill>
                <a:latin typeface="Aptos Display"/>
                <a:ea typeface="Aptos Display"/>
                <a:cs typeface="Aptos Display"/>
              </a:rPr>
              <a:t>0.98</a:t>
            </a:r>
          </a:p>
        </p:txBody>
      </p:sp>
      <p:sp>
        <p:nvSpPr>
          <p:cNvPr id="4" name="">
            <a:extLst xmlns:a="http://schemas.openxmlformats.org/drawingml/2006/main">
              <a:ext uri="{FF2B5EF4-FFF2-40B4-BE49-F238E27FC236}">
                <a16:creationId xmlns:a16="http://schemas.microsoft.com/office/drawing/2014/main" id="{04904BB0-EDAE-4006-8D10-FF661EF1C976}"/>
              </a:ext>
            </a:extLst>
          </p:cNvPr>
          <p:cNvSpPr>
            <a:spLocks xmlns:a="http://schemas.openxmlformats.org/drawingml/2006/main" noGrp="1"/>
          </p:cNvSpPr>
          <p:nvPr/>
        </p:nvSpPr>
        <p:spPr>
          <a:xfrm xmlns:a="http://schemas.openxmlformats.org/drawingml/2006/main">
            <a:off x="83820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324D"/>
                </a:solidFill>
                <a:latin typeface="Aptos"/>
                <a:ea typeface="Aptos"/>
                <a:cs typeface="Aptos"/>
              </a:defRPr>
            </a:pPr>
            <a:r>
              <a:rPr sz="1725" b="1">
                <a:solidFill>
                  <a:srgbClr val="17324D"/>
                </a:solidFill>
                <a:latin typeface="Aptos"/>
                <a:ea typeface="Aptos"/>
                <a:cs typeface="Aptos"/>
              </a:rPr>
              <a:t>nominal load</a:t>
            </a:r>
          </a:p>
        </p:txBody>
      </p:sp>
      <p:sp>
        <p:nvSpPr>
          <p:cNvPr id="5" name="">
            <a:extLst xmlns:a="http://schemas.openxmlformats.org/drawingml/2006/main">
              <a:ext uri="{FF2B5EF4-FFF2-40B4-BE49-F238E27FC236}">
                <a16:creationId xmlns:a16="http://schemas.microsoft.com/office/drawing/2014/main" id="{1986B36D-2C7C-472F-A18B-1700D6D8622D}"/>
              </a:ext>
            </a:extLst>
          </p:cNvPr>
          <p:cNvSpPr>
            <a:spLocks xmlns:a="http://schemas.openxmlformats.org/drawingml/2006/main" noGrp="1"/>
          </p:cNvSpPr>
          <p:nvPr/>
        </p:nvSpPr>
        <p:spPr>
          <a:xfrm xmlns:a="http://schemas.openxmlformats.org/drawingml/2006/main">
            <a:off x="800100" y="3371850"/>
            <a:ext cx="327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8222C"/>
                </a:solidFill>
                <a:latin typeface="Aptos"/>
                <a:ea typeface="Aptos"/>
                <a:cs typeface="Aptos"/>
              </a:defRPr>
            </a:pPr>
            <a:r>
              <a:rPr sz="1875" b="1">
                <a:solidFill>
                  <a:srgbClr val="18222C"/>
                </a:solidFill>
                <a:latin typeface="Aptos"/>
                <a:ea typeface="Aptos"/>
                <a:cs typeface="Aptos"/>
              </a:rPr>
              <a:t>Demand almost matches capacity, so every protection decision redistributes delay.</a:t>
            </a:r>
          </a:p>
        </p:txBody>
      </p:sp>
      <p:sp>
        <p:nvSpPr>
          <p:cNvPr id="6" name="">
            <a:extLst xmlns:a="http://schemas.openxmlformats.org/drawingml/2006/main">
              <a:ext uri="{FF2B5EF4-FFF2-40B4-BE49-F238E27FC236}">
                <a16:creationId xmlns:a16="http://schemas.microsoft.com/office/drawing/2014/main" id="{D3689B9F-D8C3-4F43-B2AA-55D5FD099026}"/>
              </a:ext>
            </a:extLst>
          </p:cNvPr>
          <p:cNvSpPr>
            <a:spLocks xmlns:a="http://schemas.openxmlformats.org/drawingml/2006/main" noGrp="1"/>
          </p:cNvSpPr>
          <p:nvPr/>
        </p:nvSpPr>
        <p:spPr>
          <a:xfrm xmlns:a="http://schemas.openxmlformats.org/drawingml/2006/main">
            <a:off x="4572000" y="1676400"/>
            <a:ext cx="6553200" cy="2171700"/>
          </a:xfrm>
          <a:prstGeom xmlns:a="http://schemas.openxmlformats.org/drawingml/2006/main" prst="roundRect">
            <a:avLst>
              <a:gd name="adj" fmla="val 9649"/>
            </a:avLst>
          </a:prstGeom>
          <a:solidFill xmlns:a="http://schemas.openxmlformats.org/drawingml/2006/main">
            <a:srgbClr val="EE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20BF5E5-D5D2-49FD-A383-ED23B159D86C}"/>
              </a:ext>
            </a:extLst>
          </p:cNvPr>
          <p:cNvSpPr>
            <a:spLocks xmlns:a="http://schemas.openxmlformats.org/drawingml/2006/main" noGrp="1"/>
          </p:cNvSpPr>
          <p:nvPr/>
        </p:nvSpPr>
        <p:spPr>
          <a:xfrm xmlns:a="http://schemas.openxmlformats.org/drawingml/2006/main">
            <a:off x="4933950" y="194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0">
                <a:solidFill>
                  <a:srgbClr val="687783"/>
                </a:solidFill>
                <a:latin typeface="Aptos"/>
                <a:ea typeface="Aptos"/>
                <a:cs typeface="Aptos"/>
              </a:defRPr>
            </a:pPr>
            <a:r>
              <a:rPr sz="1500" b="0">
                <a:solidFill>
                  <a:srgbClr val="687783"/>
                </a:solidFill>
                <a:latin typeface="Aptos"/>
                <a:ea typeface="Aptos"/>
                <a:cs typeface="Aptos"/>
              </a:rPr>
              <a:t>Urgent demand</a:t>
            </a:r>
          </a:p>
        </p:txBody>
      </p:sp>
      <p:sp>
        <p:nvSpPr>
          <p:cNvPr id="8" name="">
            <a:extLst xmlns:a="http://schemas.openxmlformats.org/drawingml/2006/main">
              <a:ext uri="{FF2B5EF4-FFF2-40B4-BE49-F238E27FC236}">
                <a16:creationId xmlns:a16="http://schemas.microsoft.com/office/drawing/2014/main" id="{D209B087-A0E3-4C0E-A759-48645E999704}"/>
              </a:ext>
            </a:extLst>
          </p:cNvPr>
          <p:cNvSpPr>
            <a:spLocks xmlns:a="http://schemas.openxmlformats.org/drawingml/2006/main" noGrp="1"/>
          </p:cNvSpPr>
          <p:nvPr/>
        </p:nvSpPr>
        <p:spPr>
          <a:xfrm xmlns:a="http://schemas.openxmlformats.org/drawingml/2006/main">
            <a:off x="8191500" y="1943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17324D"/>
                </a:solidFill>
                <a:latin typeface="Aptos"/>
                <a:ea typeface="Aptos"/>
                <a:cs typeface="Aptos"/>
              </a:defRPr>
            </a:pPr>
            <a:r>
              <a:rPr sz="1875" b="1">
                <a:solidFill>
                  <a:srgbClr val="17324D"/>
                </a:solidFill>
                <a:latin typeface="Aptos"/>
                <a:ea typeface="Aptos"/>
                <a:cs typeface="Aptos"/>
              </a:rPr>
              <a:t>3.69/day</a:t>
            </a:r>
          </a:p>
        </p:txBody>
      </p:sp>
      <p:sp>
        <p:nvSpPr>
          <p:cNvPr id="9" name="">
            <a:extLst xmlns:a="http://schemas.openxmlformats.org/drawingml/2006/main">
              <a:ext uri="{FF2B5EF4-FFF2-40B4-BE49-F238E27FC236}">
                <a16:creationId xmlns:a16="http://schemas.microsoft.com/office/drawing/2014/main" id="{70EAC4FA-C274-4D26-82B5-6A6F5177FC35}"/>
              </a:ext>
            </a:extLst>
          </p:cNvPr>
          <p:cNvSpPr>
            <a:spLocks xmlns:a="http://schemas.openxmlformats.org/drawingml/2006/main" noGrp="1"/>
          </p:cNvSpPr>
          <p:nvPr/>
        </p:nvSpPr>
        <p:spPr>
          <a:xfrm xmlns:a="http://schemas.openxmlformats.org/drawingml/2006/main">
            <a:off x="4933950" y="2533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0">
                <a:solidFill>
                  <a:srgbClr val="687783"/>
                </a:solidFill>
                <a:latin typeface="Aptos"/>
                <a:ea typeface="Aptos"/>
                <a:cs typeface="Aptos"/>
              </a:defRPr>
            </a:pPr>
            <a:r>
              <a:rPr sz="1500" b="0">
                <a:solidFill>
                  <a:srgbClr val="687783"/>
                </a:solidFill>
                <a:latin typeface="Aptos"/>
                <a:ea typeface="Aptos"/>
                <a:cs typeface="Aptos"/>
              </a:rPr>
              <a:t>Routine demand</a:t>
            </a:r>
          </a:p>
        </p:txBody>
      </p:sp>
      <p:sp>
        <p:nvSpPr>
          <p:cNvPr id="10" name="">
            <a:extLst xmlns:a="http://schemas.openxmlformats.org/drawingml/2006/main">
              <a:ext uri="{FF2B5EF4-FFF2-40B4-BE49-F238E27FC236}">
                <a16:creationId xmlns:a16="http://schemas.microsoft.com/office/drawing/2014/main" id="{CC795FF0-FE9B-4B1F-9D08-9F69EAC9F58F}"/>
              </a:ext>
            </a:extLst>
          </p:cNvPr>
          <p:cNvSpPr>
            <a:spLocks xmlns:a="http://schemas.openxmlformats.org/drawingml/2006/main" noGrp="1"/>
          </p:cNvSpPr>
          <p:nvPr/>
        </p:nvSpPr>
        <p:spPr>
          <a:xfrm xmlns:a="http://schemas.openxmlformats.org/drawingml/2006/main">
            <a:off x="8191500" y="2533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17324D"/>
                </a:solidFill>
                <a:latin typeface="Aptos"/>
                <a:ea typeface="Aptos"/>
                <a:cs typeface="Aptos"/>
              </a:defRPr>
            </a:pPr>
            <a:r>
              <a:rPr sz="1875" b="1">
                <a:solidFill>
                  <a:srgbClr val="17324D"/>
                </a:solidFill>
                <a:latin typeface="Aptos"/>
                <a:ea typeface="Aptos"/>
                <a:cs typeface="Aptos"/>
              </a:rPr>
              <a:t>2.19/day</a:t>
            </a:r>
          </a:p>
        </p:txBody>
      </p:sp>
      <p:sp>
        <p:nvSpPr>
          <p:cNvPr id="11" name="">
            <a:extLst xmlns:a="http://schemas.openxmlformats.org/drawingml/2006/main">
              <a:ext uri="{FF2B5EF4-FFF2-40B4-BE49-F238E27FC236}">
                <a16:creationId xmlns:a16="http://schemas.microsoft.com/office/drawing/2014/main" id="{D5591A61-2AE7-4312-BA59-7A098BB1859B}"/>
              </a:ext>
            </a:extLst>
          </p:cNvPr>
          <p:cNvSpPr>
            <a:spLocks xmlns:a="http://schemas.openxmlformats.org/drawingml/2006/main" noGrp="1"/>
          </p:cNvSpPr>
          <p:nvPr/>
        </p:nvSpPr>
        <p:spPr>
          <a:xfrm xmlns:a="http://schemas.openxmlformats.org/drawingml/2006/main">
            <a:off x="4933950" y="3124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0">
                <a:solidFill>
                  <a:srgbClr val="687783"/>
                </a:solidFill>
                <a:latin typeface="Aptos"/>
                <a:ea typeface="Aptos"/>
                <a:cs typeface="Aptos"/>
              </a:defRPr>
            </a:pPr>
            <a:r>
              <a:rPr sz="1500" b="0">
                <a:solidFill>
                  <a:srgbClr val="687783"/>
                </a:solidFill>
                <a:latin typeface="Aptos"/>
                <a:ea typeface="Aptos"/>
                <a:cs typeface="Aptos"/>
              </a:rPr>
              <a:t>Available capacity</a:t>
            </a:r>
          </a:p>
        </p:txBody>
      </p:sp>
      <p:sp>
        <p:nvSpPr>
          <p:cNvPr id="12" name="">
            <a:extLst xmlns:a="http://schemas.openxmlformats.org/drawingml/2006/main">
              <a:ext uri="{FF2B5EF4-FFF2-40B4-BE49-F238E27FC236}">
                <a16:creationId xmlns:a16="http://schemas.microsoft.com/office/drawing/2014/main" id="{2A7D89DC-AF74-4656-B9F1-BB3E0D9832A3}"/>
              </a:ext>
            </a:extLst>
          </p:cNvPr>
          <p:cNvSpPr>
            <a:spLocks xmlns:a="http://schemas.openxmlformats.org/drawingml/2006/main" noGrp="1"/>
          </p:cNvSpPr>
          <p:nvPr/>
        </p:nvSpPr>
        <p:spPr>
          <a:xfrm xmlns:a="http://schemas.openxmlformats.org/drawingml/2006/main">
            <a:off x="8191500" y="3124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17324D"/>
                </a:solidFill>
                <a:latin typeface="Aptos"/>
                <a:ea typeface="Aptos"/>
                <a:cs typeface="Aptos"/>
              </a:defRPr>
            </a:pPr>
            <a:r>
              <a:rPr sz="1875" b="1">
                <a:solidFill>
                  <a:srgbClr val="17324D"/>
                </a:solidFill>
                <a:latin typeface="Aptos"/>
                <a:ea typeface="Aptos"/>
                <a:cs typeface="Aptos"/>
              </a:rPr>
              <a:t>6 slots/day</a:t>
            </a:r>
          </a:p>
        </p:txBody>
      </p:sp>
      <p:sp>
        <p:nvSpPr>
          <p:cNvPr id="13" name="">
            <a:extLst xmlns:a="http://schemas.openxmlformats.org/drawingml/2006/main">
              <a:ext uri="{FF2B5EF4-FFF2-40B4-BE49-F238E27FC236}">
                <a16:creationId xmlns:a16="http://schemas.microsoft.com/office/drawing/2014/main" id="{13006F14-EA55-4B9B-9960-36BBE642032B}"/>
              </a:ext>
            </a:extLst>
          </p:cNvPr>
          <p:cNvSpPr>
            <a:spLocks xmlns:a="http://schemas.openxmlformats.org/drawingml/2006/main" noGrp="1"/>
          </p:cNvSpPr>
          <p:nvPr/>
        </p:nvSpPr>
        <p:spPr>
          <a:xfrm xmlns:a="http://schemas.openxmlformats.org/drawingml/2006/main">
            <a:off x="4572000" y="4248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07F82"/>
                </a:solidFill>
                <a:latin typeface="Aptos"/>
                <a:ea typeface="Aptos"/>
                <a:cs typeface="Aptos"/>
              </a:defRPr>
            </a:pPr>
            <a:r>
              <a:rPr sz="1650" b="1">
                <a:solidFill>
                  <a:srgbClr val="007F82"/>
                </a:solidFill>
                <a:latin typeface="Aptos"/>
                <a:ea typeface="Aptos"/>
                <a:cs typeface="Aptos"/>
              </a:rPr>
              <a:t>Literature framing</a:t>
            </a:r>
          </a:p>
        </p:txBody>
      </p:sp>
      <p:sp>
        <p:nvSpPr>
          <p:cNvPr id="14" name="">
            <a:extLst xmlns:a="http://schemas.openxmlformats.org/drawingml/2006/main">
              <a:ext uri="{FF2B5EF4-FFF2-40B4-BE49-F238E27FC236}">
                <a16:creationId xmlns:a16="http://schemas.microsoft.com/office/drawing/2014/main" id="{C3526088-947C-4A3F-A502-3EB84583583F}"/>
              </a:ext>
            </a:extLst>
          </p:cNvPr>
          <p:cNvSpPr>
            <a:spLocks xmlns:a="http://schemas.openxmlformats.org/drawingml/2006/main" noGrp="1"/>
          </p:cNvSpPr>
          <p:nvPr/>
        </p:nvSpPr>
        <p:spPr>
          <a:xfrm xmlns:a="http://schemas.openxmlformats.org/drawingml/2006/main">
            <a:off x="4572000" y="4667250"/>
            <a:ext cx="6553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8222C"/>
                </a:solidFill>
                <a:latin typeface="Aptos"/>
                <a:ea typeface="Aptos"/>
                <a:cs typeface="Aptos"/>
              </a:defRPr>
            </a:pPr>
            <a:r>
              <a:rPr sz="1500" b="0">
                <a:solidFill>
                  <a:srgbClr val="18222C"/>
                </a:solidFill>
                <a:latin typeface="Aptos"/>
                <a:ea typeface="Aptos"/>
                <a:cs typeface="Aptos"/>
              </a:rPr>
              <a:t>Capacity protection can improve urgent access, but the cost is displaced delay for flexible or lower-priority patients.</a:t>
            </a:r>
          </a:p>
        </p:txBody>
      </p:sp>
      <p:sp>
        <p:nvSpPr>
          <p:cNvPr id="15" name="">
            <a:extLst xmlns:a="http://schemas.openxmlformats.org/drawingml/2006/main">
              <a:ext uri="{FF2B5EF4-FFF2-40B4-BE49-F238E27FC236}">
                <a16:creationId xmlns:a16="http://schemas.microsoft.com/office/drawing/2014/main" id="{7A963EE1-294C-4719-8EF8-E2C581D122E2}"/>
              </a:ext>
            </a:extLst>
          </p:cNvPr>
          <p:cNvSpPr>
            <a:spLocks xmlns:a="http://schemas.openxmlformats.org/drawingml/2006/main" noGrp="1"/>
          </p:cNvSpPr>
          <p:nvPr/>
        </p:nvSpPr>
        <p:spPr>
          <a:xfrm xmlns:a="http://schemas.openxmlformats.org/drawingml/2006/main">
            <a:off x="4572000" y="5695950"/>
            <a:ext cx="655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324D"/>
                </a:solidFill>
                <a:latin typeface="Aptos"/>
                <a:ea typeface="Aptos"/>
                <a:cs typeface="Aptos"/>
              </a:defRPr>
            </a:pPr>
            <a:r>
              <a:rPr sz="1725" b="1">
                <a:solidFill>
                  <a:srgbClr val="17324D"/>
                </a:solidFill>
                <a:latin typeface="Aptos"/>
                <a:ea typeface="Aptos"/>
                <a:cs typeface="Aptos"/>
              </a:rPr>
              <a:t>Which rule best converts scarce flexibility into shorter urgent waits?</a:t>
            </a:r>
          </a:p>
        </p:txBody>
      </p:sp>
      <p:sp>
        <p:nvSpPr>
          <p:cNvPr id="16" name="">
            <a:extLst xmlns:a="http://schemas.openxmlformats.org/drawingml/2006/main">
              <a:ext uri="{FF2B5EF4-FFF2-40B4-BE49-F238E27FC236}">
                <a16:creationId xmlns:a16="http://schemas.microsoft.com/office/drawing/2014/main" id="{D798D09A-B62C-47B2-AD8B-A153BDD9446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7" name="source-footer">
            <a:extLst xmlns:a="http://schemas.openxmlformats.org/drawingml/2006/main">
              <a:ext uri="{FF2B5EF4-FFF2-40B4-BE49-F238E27FC236}">
                <a16:creationId xmlns:a16="http://schemas.microsoft.com/office/drawing/2014/main" id="{619CCE7F-06FC-4B6B-8437-0FAE75741B69}"/>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Gupta and Denton (2008). Dobson, Hasija and Pinker (2011). Patrick, Puterman and Queyranne (2008).</a:t>
            </a:r>
          </a:p>
        </p:txBody>
      </p:sp>
      <p:sp>
        <p:nvSpPr>
          <p:cNvPr id="18" name="slide-number">
            <a:extLst xmlns:a="http://schemas.openxmlformats.org/drawingml/2006/main">
              <a:ext uri="{FF2B5EF4-FFF2-40B4-BE49-F238E27FC236}">
                <a16:creationId xmlns:a16="http://schemas.microsoft.com/office/drawing/2014/main" id="{CB2B72D2-B7E9-4DD3-BE83-3A1D9F349B09}"/>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02</a:t>
            </a:r>
          </a:p>
        </p:txBody>
      </p:sp>
    </p:spTree>
    <p:extLst>
      <p:ext uri="{BB962C8B-B14F-4D97-AF65-F5344CB8AC3E}">
        <p14:creationId xmlns:p14="http://schemas.microsoft.com/office/powerpoint/2010/main" val="2047472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B74E388E-8665-4E1A-83DB-22EB1CD989BF}"/>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Q3 wins the stated objective, but not every service outcome</a:t>
            </a:r>
          </a:p>
        </p:txBody>
      </p:sp>
      <p:sp>
        <p:nvSpPr>
          <p:cNvPr id="2" name="">
            <a:extLst xmlns:a="http://schemas.openxmlformats.org/drawingml/2006/main">
              <a:ext uri="{FF2B5EF4-FFF2-40B4-BE49-F238E27FC236}">
                <a16:creationId xmlns:a16="http://schemas.microsoft.com/office/drawing/2014/main" id="{9AC7EACE-5BCC-4A99-8DC4-15CB2593F301}"/>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7D476-5A4B-44D1-8D40-CC056BBBEA24}"/>
              </a:ext>
            </a:extLst>
          </p:cNvPr>
          <p:cNvSpPr>
            <a:spLocks xmlns:a="http://schemas.openxmlformats.org/drawingml/2006/main" noGrp="1"/>
          </p:cNvSpPr>
          <p:nvPr/>
        </p:nvSpPr>
        <p:spPr>
          <a:xfrm xmlns:a="http://schemas.openxmlformats.org/drawingml/2006/main">
            <a:off x="1047750" y="15621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687783"/>
                </a:solidFill>
                <a:latin typeface="Aptos"/>
                <a:ea typeface="Aptos"/>
                <a:cs typeface="Aptos"/>
              </a:defRPr>
            </a:pPr>
            <a:r>
              <a:rPr sz="1200" b="1">
                <a:solidFill>
                  <a:srgbClr val="687783"/>
                </a:solidFill>
                <a:latin typeface="Aptos"/>
                <a:ea typeface="Aptos"/>
                <a:cs typeface="Aptos"/>
              </a:rPr>
              <a:t>Mean waiting time (days)</a:t>
            </a:r>
          </a:p>
        </p:txBody>
      </p:sp>
      <p:graphicFrame>
        <p:nvGraphicFramePr>
          <p:cNvPr id="18" name="Chart"/>
          <p:cNvGraphicFramePr/>
          <p:nvPr/>
        </p:nvGraphicFramePr>
        <p:xfrm>
          <a:off xmlns:a="http://schemas.openxmlformats.org/drawingml/2006/main" x="781050" y="1809750"/>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d9c4b45994064e16"/>
          </a:graphicData>
        </a:graphic>
      </p:graphicFrame>
      <p:sp>
        <p:nvSpPr>
          <p:cNvPr id="5" name="">
            <a:extLst xmlns:a="http://schemas.openxmlformats.org/drawingml/2006/main">
              <a:ext uri="{FF2B5EF4-FFF2-40B4-BE49-F238E27FC236}">
                <a16:creationId xmlns:a16="http://schemas.microsoft.com/office/drawing/2014/main" id="{F142B7BA-065C-4ECE-9C59-D9209BE22847}"/>
              </a:ext>
            </a:extLst>
          </p:cNvPr>
          <p:cNvSpPr>
            <a:spLocks xmlns:a="http://schemas.openxmlformats.org/drawingml/2006/main" noGrp="1"/>
          </p:cNvSpPr>
          <p:nvPr/>
        </p:nvSpPr>
        <p:spPr>
          <a:xfrm xmlns:a="http://schemas.openxmlformats.org/drawingml/2006/main">
            <a:off x="8572500" y="1809750"/>
            <a:ext cx="2781300" cy="2152650"/>
          </a:xfrm>
          <a:prstGeom xmlns:a="http://schemas.openxmlformats.org/drawingml/2006/main" prst="roundRect">
            <a:avLst>
              <a:gd name="adj" fmla="val 9735"/>
            </a:avLst>
          </a:prstGeom>
          <a:solidFill xmlns:a="http://schemas.openxmlformats.org/drawingml/2006/main">
            <a:srgbClr val="DCEE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58E5F4-67CA-4DD4-B991-9A8CABA543E8}"/>
              </a:ext>
            </a:extLst>
          </p:cNvPr>
          <p:cNvSpPr>
            <a:spLocks xmlns:a="http://schemas.openxmlformats.org/drawingml/2006/main" noGrp="1"/>
          </p:cNvSpPr>
          <p:nvPr/>
        </p:nvSpPr>
        <p:spPr>
          <a:xfrm xmlns:a="http://schemas.openxmlformats.org/drawingml/2006/main">
            <a:off x="8839200" y="2076450"/>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6164"/>
                </a:solidFill>
                <a:latin typeface="Aptos"/>
                <a:ea typeface="Aptos"/>
                <a:cs typeface="Aptos"/>
              </a:defRPr>
            </a:pPr>
            <a:r>
              <a:rPr sz="1500" b="1">
                <a:solidFill>
                  <a:srgbClr val="006164"/>
                </a:solidFill>
                <a:latin typeface="Aptos"/>
                <a:ea typeface="Aptos"/>
                <a:cs typeface="Aptos"/>
              </a:rPr>
              <a:t>Decision</a:t>
            </a:r>
          </a:p>
        </p:txBody>
      </p:sp>
      <p:sp>
        <p:nvSpPr>
          <p:cNvPr id="7" name="">
            <a:extLst xmlns:a="http://schemas.openxmlformats.org/drawingml/2006/main">
              <a:ext uri="{FF2B5EF4-FFF2-40B4-BE49-F238E27FC236}">
                <a16:creationId xmlns:a16="http://schemas.microsoft.com/office/drawing/2014/main" id="{7ACD9A9C-AEFB-44E8-8E49-0CFF139C6A7D}"/>
              </a:ext>
            </a:extLst>
          </p:cNvPr>
          <p:cNvSpPr>
            <a:spLocks xmlns:a="http://schemas.openxmlformats.org/drawingml/2006/main" noGrp="1"/>
          </p:cNvSpPr>
          <p:nvPr/>
        </p:nvSpPr>
        <p:spPr>
          <a:xfrm xmlns:a="http://schemas.openxmlformats.org/drawingml/2006/main">
            <a:off x="8839200" y="254317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324D"/>
                </a:solidFill>
                <a:latin typeface="Aptos Display"/>
                <a:ea typeface="Aptos Display"/>
                <a:cs typeface="Aptos Display"/>
              </a:defRPr>
            </a:pPr>
            <a:r>
              <a:rPr sz="2700" b="1">
                <a:solidFill>
                  <a:srgbClr val="17324D"/>
                </a:solidFill>
                <a:latin typeface="Aptos Display"/>
                <a:ea typeface="Aptos Display"/>
                <a:cs typeface="Aptos Display"/>
              </a:rPr>
              <a:t>Choose Q3</a:t>
            </a:r>
          </a:p>
        </p:txBody>
      </p:sp>
      <p:sp>
        <p:nvSpPr>
          <p:cNvPr id="8" name="">
            <a:extLst xmlns:a="http://schemas.openxmlformats.org/drawingml/2006/main">
              <a:ext uri="{FF2B5EF4-FFF2-40B4-BE49-F238E27FC236}">
                <a16:creationId xmlns:a16="http://schemas.microsoft.com/office/drawing/2014/main" id="{C0E78755-DDEC-467F-AF02-07FF194D0279}"/>
              </a:ext>
            </a:extLst>
          </p:cNvPr>
          <p:cNvSpPr>
            <a:spLocks xmlns:a="http://schemas.openxmlformats.org/drawingml/2006/main" noGrp="1"/>
          </p:cNvSpPr>
          <p:nvPr/>
        </p:nvSpPr>
        <p:spPr>
          <a:xfrm xmlns:a="http://schemas.openxmlformats.org/drawingml/2006/main">
            <a:off x="8839200" y="3133725"/>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8222C"/>
                </a:solidFill>
                <a:latin typeface="Aptos"/>
                <a:ea typeface="Aptos"/>
                <a:cs typeface="Aptos"/>
              </a:defRPr>
            </a:pPr>
            <a:r>
              <a:rPr sz="1350" b="0">
                <a:solidFill>
                  <a:srgbClr val="18222C"/>
                </a:solidFill>
                <a:latin typeface="Aptos"/>
                <a:ea typeface="Aptos"/>
                <a:cs typeface="Aptos"/>
              </a:rPr>
              <a:t>Largest urgent reduction</a:t>
            </a:r>
          </a:p>
          <a:p xmlns:a="http://schemas.openxmlformats.org/drawingml/2006/main">
            <a:pPr algn="l">
              <a:defRPr sz="1350" b="0">
                <a:solidFill>
                  <a:srgbClr val="18222C"/>
                </a:solidFill>
                <a:latin typeface="Aptos"/>
                <a:ea typeface="Aptos"/>
                <a:cs typeface="Aptos"/>
              </a:defRPr>
            </a:pPr>
            <a:r>
              <a:rPr sz="1350" b="0">
                <a:solidFill>
                  <a:srgbClr val="18222C"/>
                </a:solidFill>
                <a:latin typeface="Aptos"/>
                <a:ea typeface="Aptos"/>
                <a:cs typeface="Aptos"/>
              </a:rPr>
              <a:t>while overall mean remains feasible</a:t>
            </a:r>
          </a:p>
        </p:txBody>
      </p:sp>
      <p:sp>
        <p:nvSpPr>
          <p:cNvPr id="9" name="">
            <a:extLst xmlns:a="http://schemas.openxmlformats.org/drawingml/2006/main">
              <a:ext uri="{FF2B5EF4-FFF2-40B4-BE49-F238E27FC236}">
                <a16:creationId xmlns:a16="http://schemas.microsoft.com/office/drawing/2014/main" id="{752C1086-7E1A-40CD-8A98-4628721AD8EC}"/>
              </a:ext>
            </a:extLst>
          </p:cNvPr>
          <p:cNvSpPr>
            <a:spLocks xmlns:a="http://schemas.openxmlformats.org/drawingml/2006/main" noGrp="1"/>
          </p:cNvSpPr>
          <p:nvPr/>
        </p:nvSpPr>
        <p:spPr>
          <a:xfrm xmlns:a="http://schemas.openxmlformats.org/drawingml/2006/main">
            <a:off x="8572500" y="4210050"/>
            <a:ext cx="2781300" cy="1371600"/>
          </a:xfrm>
          <a:prstGeom xmlns:a="http://schemas.openxmlformats.org/drawingml/2006/main" prst="roundRect">
            <a:avLst>
              <a:gd name="adj" fmla="val 15278"/>
            </a:avLst>
          </a:prstGeom>
          <a:solidFill xmlns:a="http://schemas.openxmlformats.org/drawingml/2006/main">
            <a:srgbClr val="FFF4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9089C3-5267-4E6B-A032-A7EE8990287F}"/>
              </a:ext>
            </a:extLst>
          </p:cNvPr>
          <p:cNvSpPr>
            <a:spLocks xmlns:a="http://schemas.openxmlformats.org/drawingml/2006/main" noGrp="1"/>
          </p:cNvSpPr>
          <p:nvPr/>
        </p:nvSpPr>
        <p:spPr>
          <a:xfrm xmlns:a="http://schemas.openxmlformats.org/drawingml/2006/main">
            <a:off x="8839200" y="44386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D68B00"/>
                </a:solidFill>
                <a:latin typeface="Aptos"/>
                <a:ea typeface="Aptos"/>
                <a:cs typeface="Aptos"/>
              </a:defRPr>
            </a:pPr>
            <a:r>
              <a:rPr sz="1500" b="1">
                <a:solidFill>
                  <a:srgbClr val="D68B00"/>
                </a:solidFill>
                <a:latin typeface="Aptos"/>
                <a:ea typeface="Aptos"/>
                <a:cs typeface="Aptos"/>
              </a:rPr>
              <a:t>Service risk</a:t>
            </a:r>
          </a:p>
        </p:txBody>
      </p:sp>
      <p:sp>
        <p:nvSpPr>
          <p:cNvPr id="11" name="">
            <a:extLst xmlns:a="http://schemas.openxmlformats.org/drawingml/2006/main">
              <a:ext uri="{FF2B5EF4-FFF2-40B4-BE49-F238E27FC236}">
                <a16:creationId xmlns:a16="http://schemas.microsoft.com/office/drawing/2014/main" id="{6C4362DD-C844-4797-807D-BE8C9B47BCFA}"/>
              </a:ext>
            </a:extLst>
          </p:cNvPr>
          <p:cNvSpPr>
            <a:spLocks xmlns:a="http://schemas.openxmlformats.org/drawingml/2006/main" noGrp="1"/>
          </p:cNvSpPr>
          <p:nvPr/>
        </p:nvSpPr>
        <p:spPr>
          <a:xfrm xmlns:a="http://schemas.openxmlformats.org/drawingml/2006/main">
            <a:off x="8839200" y="48577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324D"/>
                </a:solidFill>
                <a:latin typeface="Aptos"/>
                <a:ea typeface="Aptos"/>
                <a:cs typeface="Aptos"/>
              </a:defRPr>
            </a:pPr>
            <a:r>
              <a:rPr sz="1725" b="1">
                <a:solidFill>
                  <a:srgbClr val="17324D"/>
                </a:solidFill>
                <a:latin typeface="Aptos"/>
                <a:ea typeface="Aptos"/>
                <a:cs typeface="Aptos"/>
              </a:rPr>
              <a:t>Routine mean rises to</a:t>
            </a:r>
          </a:p>
          <a:p xmlns:a="http://schemas.openxmlformats.org/drawingml/2006/main">
            <a:pPr algn="l">
              <a:defRPr sz="1725" b="1">
                <a:solidFill>
                  <a:srgbClr val="17324D"/>
                </a:solidFill>
                <a:latin typeface="Aptos"/>
                <a:ea typeface="Aptos"/>
                <a:cs typeface="Aptos"/>
              </a:defRPr>
            </a:pPr>
            <a:r>
              <a:rPr sz="1725" b="1">
                <a:solidFill>
                  <a:srgbClr val="17324D"/>
                </a:solidFill>
                <a:latin typeface="Aptos"/>
                <a:ea typeface="Aptos"/>
                <a:cs typeface="Aptos"/>
              </a:rPr>
              <a:t>9.053 days</a:t>
            </a:r>
          </a:p>
        </p:txBody>
      </p:sp>
      <p:sp>
        <p:nvSpPr>
          <p:cNvPr id="12" name="">
            <a:extLst xmlns:a="http://schemas.openxmlformats.org/drawingml/2006/main">
              <a:ext uri="{FF2B5EF4-FFF2-40B4-BE49-F238E27FC236}">
                <a16:creationId xmlns:a16="http://schemas.microsoft.com/office/drawing/2014/main" id="{877DE7BD-AC82-4B00-8125-FDE0E41C608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3" name="source-footer">
            <a:extLst xmlns:a="http://schemas.openxmlformats.org/drawingml/2006/main">
              <a:ext uri="{FF2B5EF4-FFF2-40B4-BE49-F238E27FC236}">
                <a16:creationId xmlns:a16="http://schemas.microsoft.com/office/drawing/2014/main" id="{93DB9D0F-C26A-4C13-B13F-B168E1ABCDBD}"/>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Report Table 4; 250-replication outputs for Q2-Q4.</a:t>
            </a:r>
          </a:p>
        </p:txBody>
      </p:sp>
      <p:sp>
        <p:nvSpPr>
          <p:cNvPr id="14" name="slide-number">
            <a:extLst xmlns:a="http://schemas.openxmlformats.org/drawingml/2006/main">
              <a:ext uri="{FF2B5EF4-FFF2-40B4-BE49-F238E27FC236}">
                <a16:creationId xmlns:a16="http://schemas.microsoft.com/office/drawing/2014/main" id="{8ADE92F0-CFA6-45B2-8778-32368DF17C5D}"/>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03</a:t>
            </a:r>
          </a:p>
        </p:txBody>
      </p:sp>
    </p:spTree>
    <p:extLst>
      <p:ext uri="{BB962C8B-B14F-4D97-AF65-F5344CB8AC3E}">
        <p14:creationId xmlns:p14="http://schemas.microsoft.com/office/powerpoint/2010/main" val="1647304205"/>
      </p:ext>
    </p:extLst>
  </p:cSld>
</p:sld>
</file>

<file path=ppt/slides/slide4.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DC5B9A1A-AE9A-4E76-A254-4495778056DB}"/>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A common experiment design makes the three policies comparable</a:t>
            </a:r>
          </a:p>
        </p:txBody>
      </p:sp>
      <p:sp>
        <p:nvSpPr>
          <p:cNvPr id="2" name="">
            <a:extLst xmlns:a="http://schemas.openxmlformats.org/drawingml/2006/main">
              <a:ext uri="{FF2B5EF4-FFF2-40B4-BE49-F238E27FC236}">
                <a16:creationId xmlns:a16="http://schemas.microsoft.com/office/drawing/2014/main" id="{331FEA1C-6FB9-4F7C-A4B9-283C38022A4A}"/>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flow-box-1">
            <a:extLst xmlns:a="http://schemas.openxmlformats.org/drawingml/2006/main">
              <a:ext uri="{FF2B5EF4-FFF2-40B4-BE49-F238E27FC236}">
                <a16:creationId xmlns:a16="http://schemas.microsoft.com/office/drawing/2014/main" id="{49F2FFED-2AD2-4A3C-86C4-C418EC85DF80}"/>
              </a:ext>
            </a:extLst>
          </p:cNvPr>
          <p:cNvSpPr>
            <a:spLocks xmlns:a="http://schemas.openxmlformats.org/drawingml/2006/main" noGrp="1"/>
          </p:cNvSpPr>
          <p:nvPr/>
        </p:nvSpPr>
        <p:spPr>
          <a:xfrm xmlns:a="http://schemas.openxmlformats.org/drawingml/2006/main">
            <a:off x="742950"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sp>
        <p:nvSpPr>
          <p:cNvPr id="4" name="flow-box-2">
            <a:extLst xmlns:a="http://schemas.openxmlformats.org/drawingml/2006/main">
              <a:ext uri="{FF2B5EF4-FFF2-40B4-BE49-F238E27FC236}">
                <a16:creationId xmlns:a16="http://schemas.microsoft.com/office/drawing/2014/main" id="{619902E3-DDD5-4793-9C01-45236ECCEA72}"/>
              </a:ext>
            </a:extLst>
          </p:cNvPr>
          <p:cNvSpPr>
            <a:spLocks xmlns:a="http://schemas.openxmlformats.org/drawingml/2006/main" noGrp="1"/>
          </p:cNvSpPr>
          <p:nvPr/>
        </p:nvSpPr>
        <p:spPr>
          <a:xfrm xmlns:a="http://schemas.openxmlformats.org/drawingml/2006/main">
            <a:off x="3476625" y="1790700"/>
            <a:ext cx="2095500" cy="1276350"/>
          </a:xfrm>
          <a:prstGeom xmlns:a="http://schemas.openxmlformats.org/drawingml/2006/main" prst="roundRect">
            <a:avLst>
              <a:gd name="adj" fmla="val 13433"/>
            </a:avLst>
          </a:prstGeom>
          <a:solidFill xmlns:a="http://schemas.openxmlformats.org/drawingml/2006/main">
            <a:srgbClr val="DCEEEF"/>
          </a:solidFill>
          <a:ln xmlns:a="http://schemas.openxmlformats.org/drawingml/2006/main" w="19050">
            <a:solidFill>
              <a:srgbClr val="007F82"/>
            </a:solidFill>
            <a:prstDash val="solid"/>
          </a:ln>
        </p:spPr>
      </p:sp>
      <p:sp>
        <p:nvSpPr>
          <p:cNvPr id="5" name="flow-box-3">
            <a:extLst xmlns:a="http://schemas.openxmlformats.org/drawingml/2006/main">
              <a:ext uri="{FF2B5EF4-FFF2-40B4-BE49-F238E27FC236}">
                <a16:creationId xmlns:a16="http://schemas.microsoft.com/office/drawing/2014/main" id="{3CF95049-B5E4-4017-9A6D-074D36B14F64}"/>
              </a:ext>
            </a:extLst>
          </p:cNvPr>
          <p:cNvSpPr>
            <a:spLocks xmlns:a="http://schemas.openxmlformats.org/drawingml/2006/main" noGrp="1"/>
          </p:cNvSpPr>
          <p:nvPr/>
        </p:nvSpPr>
        <p:spPr>
          <a:xfrm xmlns:a="http://schemas.openxmlformats.org/drawingml/2006/main">
            <a:off x="6210300"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sp>
        <p:nvSpPr>
          <p:cNvPr id="6" name="flow-box-4">
            <a:extLst xmlns:a="http://schemas.openxmlformats.org/drawingml/2006/main">
              <a:ext uri="{FF2B5EF4-FFF2-40B4-BE49-F238E27FC236}">
                <a16:creationId xmlns:a16="http://schemas.microsoft.com/office/drawing/2014/main" id="{5209DEFE-ED11-4E04-A96A-8B4F711F3F22}"/>
              </a:ext>
            </a:extLst>
          </p:cNvPr>
          <p:cNvSpPr>
            <a:spLocks xmlns:a="http://schemas.openxmlformats.org/drawingml/2006/main" noGrp="1"/>
          </p:cNvSpPr>
          <p:nvPr/>
        </p:nvSpPr>
        <p:spPr>
          <a:xfrm xmlns:a="http://schemas.openxmlformats.org/drawingml/2006/main">
            <a:off x="8943975"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cxnSp>
        <p:nvCxnSpPr>
          <p:cNvPr id="36" name=""/>
          <p:cNvCxnSpPr>
            <a:stCxn xmlns:a="http://schemas.openxmlformats.org/drawingml/2006/main" id="3" idx="3"/>
            <a:endCxn xmlns:a="http://schemas.openxmlformats.org/drawingml/2006/main" id="4" idx="1"/>
          </p:cNvCxnSpPr>
          <p:nvPr/>
        </p:nvCxnSpPr>
        <p:spPr>
          <a:xfrm xmlns:a="http://schemas.openxmlformats.org/drawingml/2006/main">
            <a:off x="2838450"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37" name=""/>
          <p:cNvCxnSpPr>
            <a:stCxn xmlns:a="http://schemas.openxmlformats.org/drawingml/2006/main" id="4" idx="3"/>
            <a:endCxn xmlns:a="http://schemas.openxmlformats.org/drawingml/2006/main" id="5" idx="1"/>
          </p:cNvCxnSpPr>
          <p:nvPr/>
        </p:nvCxnSpPr>
        <p:spPr>
          <a:xfrm xmlns:a="http://schemas.openxmlformats.org/drawingml/2006/main">
            <a:off x="5572125"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38" name=""/>
          <p:cNvCxnSpPr>
            <a:stCxn xmlns:a="http://schemas.openxmlformats.org/drawingml/2006/main" id="5" idx="3"/>
            <a:endCxn xmlns:a="http://schemas.openxmlformats.org/drawingml/2006/main" id="6" idx="1"/>
          </p:cNvCxnSpPr>
          <p:nvPr/>
        </p:nvCxnSpPr>
        <p:spPr>
          <a:xfrm xmlns:a="http://schemas.openxmlformats.org/drawingml/2006/main">
            <a:off x="8305800"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sp>
        <p:nvSpPr>
          <p:cNvPr id="10" name="">
            <a:extLst xmlns:a="http://schemas.openxmlformats.org/drawingml/2006/main">
              <a:ext uri="{FF2B5EF4-FFF2-40B4-BE49-F238E27FC236}">
                <a16:creationId xmlns:a16="http://schemas.microsoft.com/office/drawing/2014/main" id="{788F2037-AEA4-4873-A011-5D250E4AC430}"/>
              </a:ext>
            </a:extLst>
          </p:cNvPr>
          <p:cNvSpPr>
            <a:spLocks xmlns:a="http://schemas.openxmlformats.org/drawingml/2006/main" noGrp="1"/>
          </p:cNvSpPr>
          <p:nvPr/>
        </p:nvSpPr>
        <p:spPr>
          <a:xfrm xmlns:a="http://schemas.openxmlformats.org/drawingml/2006/main">
            <a:off x="876300"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324D"/>
                </a:solidFill>
                <a:latin typeface="Aptos"/>
                <a:ea typeface="Aptos"/>
                <a:cs typeface="Aptos"/>
              </a:defRPr>
            </a:pPr>
            <a:r>
              <a:rPr sz="1575" b="1">
                <a:solidFill>
                  <a:srgbClr val="17324D"/>
                </a:solidFill>
                <a:latin typeface="Aptos"/>
                <a:ea typeface="Aptos"/>
                <a:cs typeface="Aptos"/>
              </a:rPr>
              <a:t>Poisson arrivals</a:t>
            </a:r>
          </a:p>
        </p:txBody>
      </p:sp>
      <p:sp>
        <p:nvSpPr>
          <p:cNvPr id="11" name="">
            <a:extLst xmlns:a="http://schemas.openxmlformats.org/drawingml/2006/main">
              <a:ext uri="{FF2B5EF4-FFF2-40B4-BE49-F238E27FC236}">
                <a16:creationId xmlns:a16="http://schemas.microsoft.com/office/drawing/2014/main" id="{74DCE023-2A53-4939-8537-5314F1EAE5E2}"/>
              </a:ext>
            </a:extLst>
          </p:cNvPr>
          <p:cNvSpPr>
            <a:spLocks xmlns:a="http://schemas.openxmlformats.org/drawingml/2006/main" noGrp="1"/>
          </p:cNvSpPr>
          <p:nvPr/>
        </p:nvSpPr>
        <p:spPr>
          <a:xfrm xmlns:a="http://schemas.openxmlformats.org/drawingml/2006/main">
            <a:off x="876300"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Urgent 3.69/day</a:t>
            </a:r>
          </a:p>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Routine 2.19/day</a:t>
            </a:r>
          </a:p>
        </p:txBody>
      </p:sp>
      <p:sp>
        <p:nvSpPr>
          <p:cNvPr id="12" name="">
            <a:extLst xmlns:a="http://schemas.openxmlformats.org/drawingml/2006/main">
              <a:ext uri="{FF2B5EF4-FFF2-40B4-BE49-F238E27FC236}">
                <a16:creationId xmlns:a16="http://schemas.microsoft.com/office/drawing/2014/main" id="{31448652-1F47-44BF-8D1D-4AACF2A92DA3}"/>
              </a:ext>
            </a:extLst>
          </p:cNvPr>
          <p:cNvSpPr>
            <a:spLocks xmlns:a="http://schemas.openxmlformats.org/drawingml/2006/main" noGrp="1"/>
          </p:cNvSpPr>
          <p:nvPr/>
        </p:nvSpPr>
        <p:spPr>
          <a:xfrm xmlns:a="http://schemas.openxmlformats.org/drawingml/2006/main">
            <a:off x="3609975"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324D"/>
                </a:solidFill>
                <a:latin typeface="Aptos"/>
                <a:ea typeface="Aptos"/>
                <a:cs typeface="Aptos"/>
              </a:defRPr>
            </a:pPr>
            <a:r>
              <a:rPr sz="1575" b="1">
                <a:solidFill>
                  <a:srgbClr val="17324D"/>
                </a:solidFill>
                <a:latin typeface="Aptos"/>
                <a:ea typeface="Aptos"/>
                <a:cs typeface="Aptos"/>
              </a:rPr>
              <a:t>Policy decision</a:t>
            </a:r>
          </a:p>
        </p:txBody>
      </p:sp>
      <p:sp>
        <p:nvSpPr>
          <p:cNvPr id="13" name="">
            <a:extLst xmlns:a="http://schemas.openxmlformats.org/drawingml/2006/main">
              <a:ext uri="{FF2B5EF4-FFF2-40B4-BE49-F238E27FC236}">
                <a16:creationId xmlns:a16="http://schemas.microsoft.com/office/drawing/2014/main" id="{ED4B845E-0714-44A3-89E3-069132EC3324}"/>
              </a:ext>
            </a:extLst>
          </p:cNvPr>
          <p:cNvSpPr>
            <a:spLocks xmlns:a="http://schemas.openxmlformats.org/drawingml/2006/main" noGrp="1"/>
          </p:cNvSpPr>
          <p:nvPr/>
        </p:nvSpPr>
        <p:spPr>
          <a:xfrm xmlns:a="http://schemas.openxmlformats.org/drawingml/2006/main">
            <a:off x="3609975"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FAS | Q3 | Q4</a:t>
            </a:r>
          </a:p>
        </p:txBody>
      </p:sp>
      <p:sp>
        <p:nvSpPr>
          <p:cNvPr id="14" name="">
            <a:extLst xmlns:a="http://schemas.openxmlformats.org/drawingml/2006/main">
              <a:ext uri="{FF2B5EF4-FFF2-40B4-BE49-F238E27FC236}">
                <a16:creationId xmlns:a16="http://schemas.microsoft.com/office/drawing/2014/main" id="{D627725A-D80D-48D5-995D-8016F7A4025C}"/>
              </a:ext>
            </a:extLst>
          </p:cNvPr>
          <p:cNvSpPr>
            <a:spLocks xmlns:a="http://schemas.openxmlformats.org/drawingml/2006/main" noGrp="1"/>
          </p:cNvSpPr>
          <p:nvPr/>
        </p:nvSpPr>
        <p:spPr>
          <a:xfrm xmlns:a="http://schemas.openxmlformats.org/drawingml/2006/main">
            <a:off x="6343650"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324D"/>
                </a:solidFill>
                <a:latin typeface="Aptos"/>
                <a:ea typeface="Aptos"/>
                <a:cs typeface="Aptos"/>
              </a:defRPr>
            </a:pPr>
            <a:r>
              <a:rPr sz="1575" b="1">
                <a:solidFill>
                  <a:srgbClr val="17324D"/>
                </a:solidFill>
                <a:latin typeface="Aptos"/>
                <a:ea typeface="Aptos"/>
                <a:cs typeface="Aptos"/>
              </a:rPr>
              <a:t>Appointment calendar</a:t>
            </a:r>
          </a:p>
        </p:txBody>
      </p:sp>
      <p:sp>
        <p:nvSpPr>
          <p:cNvPr id="15" name="">
            <a:extLst xmlns:a="http://schemas.openxmlformats.org/drawingml/2006/main">
              <a:ext uri="{FF2B5EF4-FFF2-40B4-BE49-F238E27FC236}">
                <a16:creationId xmlns:a16="http://schemas.microsoft.com/office/drawing/2014/main" id="{3C109D45-940C-461B-A134-A516DDEBB5D5}"/>
              </a:ext>
            </a:extLst>
          </p:cNvPr>
          <p:cNvSpPr>
            <a:spLocks xmlns:a="http://schemas.openxmlformats.org/drawingml/2006/main" noGrp="1"/>
          </p:cNvSpPr>
          <p:nvPr/>
        </p:nvSpPr>
        <p:spPr>
          <a:xfrm xmlns:a="http://schemas.openxmlformats.org/drawingml/2006/main">
            <a:off x="6343650"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6 slots/day</a:t>
            </a:r>
          </a:p>
        </p:txBody>
      </p:sp>
      <p:sp>
        <p:nvSpPr>
          <p:cNvPr id="16" name="">
            <a:extLst xmlns:a="http://schemas.openxmlformats.org/drawingml/2006/main">
              <a:ext uri="{FF2B5EF4-FFF2-40B4-BE49-F238E27FC236}">
                <a16:creationId xmlns:a16="http://schemas.microsoft.com/office/drawing/2014/main" id="{B2880909-B2C5-4FD1-8F4D-E34AF2A66061}"/>
              </a:ext>
            </a:extLst>
          </p:cNvPr>
          <p:cNvSpPr>
            <a:spLocks xmlns:a="http://schemas.openxmlformats.org/drawingml/2006/main" noGrp="1"/>
          </p:cNvSpPr>
          <p:nvPr/>
        </p:nvSpPr>
        <p:spPr>
          <a:xfrm xmlns:a="http://schemas.openxmlformats.org/drawingml/2006/main">
            <a:off x="9077325"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324D"/>
                </a:solidFill>
                <a:latin typeface="Aptos"/>
                <a:ea typeface="Aptos"/>
                <a:cs typeface="Aptos"/>
              </a:defRPr>
            </a:pPr>
            <a:r>
              <a:rPr sz="1575" b="1">
                <a:solidFill>
                  <a:srgbClr val="17324D"/>
                </a:solidFill>
                <a:latin typeface="Aptos"/>
                <a:ea typeface="Aptos"/>
                <a:cs typeface="Aptos"/>
              </a:rPr>
              <a:t>Outcome statistics</a:t>
            </a:r>
          </a:p>
        </p:txBody>
      </p:sp>
      <p:sp>
        <p:nvSpPr>
          <p:cNvPr id="17" name="">
            <a:extLst xmlns:a="http://schemas.openxmlformats.org/drawingml/2006/main">
              <a:ext uri="{FF2B5EF4-FFF2-40B4-BE49-F238E27FC236}">
                <a16:creationId xmlns:a16="http://schemas.microsoft.com/office/drawing/2014/main" id="{88DE0935-7845-4AB9-AE7C-FB409E8FD44F}"/>
              </a:ext>
            </a:extLst>
          </p:cNvPr>
          <p:cNvSpPr>
            <a:spLocks xmlns:a="http://schemas.openxmlformats.org/drawingml/2006/main" noGrp="1"/>
          </p:cNvSpPr>
          <p:nvPr/>
        </p:nvSpPr>
        <p:spPr>
          <a:xfrm xmlns:a="http://schemas.openxmlformats.org/drawingml/2006/main">
            <a:off x="9077325"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Waits, CIs, utilisation</a:t>
            </a:r>
          </a:p>
        </p:txBody>
      </p:sp>
      <p:sp>
        <p:nvSpPr>
          <p:cNvPr id="18" name="">
            <a:extLst xmlns:a="http://schemas.openxmlformats.org/drawingml/2006/main">
              <a:ext uri="{FF2B5EF4-FFF2-40B4-BE49-F238E27FC236}">
                <a16:creationId xmlns:a16="http://schemas.microsoft.com/office/drawing/2014/main" id="{7EC37CC0-344E-47FD-B8A8-C3E037C76270}"/>
              </a:ext>
            </a:extLst>
          </p:cNvPr>
          <p:cNvSpPr>
            <a:spLocks xmlns:a="http://schemas.openxmlformats.org/drawingml/2006/main" noGrp="1"/>
          </p:cNvSpPr>
          <p:nvPr/>
        </p:nvSpPr>
        <p:spPr>
          <a:xfrm xmlns:a="http://schemas.openxmlformats.org/drawingml/2006/main">
            <a:off x="819150"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1,000</a:t>
            </a:r>
          </a:p>
        </p:txBody>
      </p:sp>
      <p:sp>
        <p:nvSpPr>
          <p:cNvPr id="19" name="">
            <a:extLst xmlns:a="http://schemas.openxmlformats.org/drawingml/2006/main">
              <a:ext uri="{FF2B5EF4-FFF2-40B4-BE49-F238E27FC236}">
                <a16:creationId xmlns:a16="http://schemas.microsoft.com/office/drawing/2014/main" id="{810D12EE-040D-4508-AA37-C5F1BD670502}"/>
              </a:ext>
            </a:extLst>
          </p:cNvPr>
          <p:cNvSpPr>
            <a:spLocks xmlns:a="http://schemas.openxmlformats.org/drawingml/2006/main" noGrp="1"/>
          </p:cNvSpPr>
          <p:nvPr/>
        </p:nvSpPr>
        <p:spPr>
          <a:xfrm xmlns:a="http://schemas.openxmlformats.org/drawingml/2006/main">
            <a:off x="819150"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served-patient warm-up</a:t>
            </a:r>
          </a:p>
        </p:txBody>
      </p:sp>
      <p:sp>
        <p:nvSpPr>
          <p:cNvPr id="20" name="">
            <a:extLst xmlns:a="http://schemas.openxmlformats.org/drawingml/2006/main">
              <a:ext uri="{FF2B5EF4-FFF2-40B4-BE49-F238E27FC236}">
                <a16:creationId xmlns:a16="http://schemas.microsoft.com/office/drawing/2014/main" id="{E38EEB51-63F6-4AD5-8150-CBA69E197D54}"/>
              </a:ext>
            </a:extLst>
          </p:cNvPr>
          <p:cNvSpPr>
            <a:spLocks xmlns:a="http://schemas.openxmlformats.org/drawingml/2006/main" noGrp="1"/>
          </p:cNvSpPr>
          <p:nvPr/>
        </p:nvSpPr>
        <p:spPr>
          <a:xfrm xmlns:a="http://schemas.openxmlformats.org/drawingml/2006/main">
            <a:off x="3552825"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50,000</a:t>
            </a:r>
          </a:p>
        </p:txBody>
      </p:sp>
      <p:sp>
        <p:nvSpPr>
          <p:cNvPr id="21" name="">
            <a:extLst xmlns:a="http://schemas.openxmlformats.org/drawingml/2006/main">
              <a:ext uri="{FF2B5EF4-FFF2-40B4-BE49-F238E27FC236}">
                <a16:creationId xmlns:a16="http://schemas.microsoft.com/office/drawing/2014/main" id="{26D93A73-9D97-4A6D-9834-8D12E019DA22}"/>
              </a:ext>
            </a:extLst>
          </p:cNvPr>
          <p:cNvSpPr>
            <a:spLocks xmlns:a="http://schemas.openxmlformats.org/drawingml/2006/main" noGrp="1"/>
          </p:cNvSpPr>
          <p:nvPr/>
        </p:nvSpPr>
        <p:spPr>
          <a:xfrm xmlns:a="http://schemas.openxmlformats.org/drawingml/2006/main">
            <a:off x="3552825"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arrival stopping rule</a:t>
            </a:r>
          </a:p>
        </p:txBody>
      </p:sp>
      <p:sp>
        <p:nvSpPr>
          <p:cNvPr id="22" name="">
            <a:extLst xmlns:a="http://schemas.openxmlformats.org/drawingml/2006/main">
              <a:ext uri="{FF2B5EF4-FFF2-40B4-BE49-F238E27FC236}">
                <a16:creationId xmlns:a16="http://schemas.microsoft.com/office/drawing/2014/main" id="{36FB4A13-B0CF-4137-B68F-9E752EEE645F}"/>
              </a:ext>
            </a:extLst>
          </p:cNvPr>
          <p:cNvSpPr>
            <a:spLocks xmlns:a="http://schemas.openxmlformats.org/drawingml/2006/main" noGrp="1"/>
          </p:cNvSpPr>
          <p:nvPr/>
        </p:nvSpPr>
        <p:spPr>
          <a:xfrm xmlns:a="http://schemas.openxmlformats.org/drawingml/2006/main">
            <a:off x="6286500"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007F82"/>
                </a:solidFill>
                <a:latin typeface="Aptos Display"/>
                <a:ea typeface="Aptos Display"/>
                <a:cs typeface="Aptos Display"/>
              </a:defRPr>
            </a:pPr>
            <a:r>
              <a:rPr sz="3150" b="1">
                <a:solidFill>
                  <a:srgbClr val="007F82"/>
                </a:solidFill>
                <a:latin typeface="Aptos Display"/>
                <a:ea typeface="Aptos Display"/>
                <a:cs typeface="Aptos Display"/>
              </a:rPr>
              <a:t>250</a:t>
            </a:r>
          </a:p>
        </p:txBody>
      </p:sp>
      <p:sp>
        <p:nvSpPr>
          <p:cNvPr id="23" name="">
            <a:extLst xmlns:a="http://schemas.openxmlformats.org/drawingml/2006/main">
              <a:ext uri="{FF2B5EF4-FFF2-40B4-BE49-F238E27FC236}">
                <a16:creationId xmlns:a16="http://schemas.microsoft.com/office/drawing/2014/main" id="{4FB85109-3CF0-497C-8D35-B9B2E0075CF9}"/>
              </a:ext>
            </a:extLst>
          </p:cNvPr>
          <p:cNvSpPr>
            <a:spLocks xmlns:a="http://schemas.openxmlformats.org/drawingml/2006/main" noGrp="1"/>
          </p:cNvSpPr>
          <p:nvPr/>
        </p:nvSpPr>
        <p:spPr>
          <a:xfrm xmlns:a="http://schemas.openxmlformats.org/drawingml/2006/main">
            <a:off x="6286500"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independent replications</a:t>
            </a:r>
          </a:p>
        </p:txBody>
      </p:sp>
      <p:sp>
        <p:nvSpPr>
          <p:cNvPr id="24" name="">
            <a:extLst xmlns:a="http://schemas.openxmlformats.org/drawingml/2006/main">
              <a:ext uri="{FF2B5EF4-FFF2-40B4-BE49-F238E27FC236}">
                <a16:creationId xmlns:a16="http://schemas.microsoft.com/office/drawing/2014/main" id="{6ACC4693-14B2-45C0-AE5F-8A482A83368A}"/>
              </a:ext>
            </a:extLst>
          </p:cNvPr>
          <p:cNvSpPr>
            <a:spLocks xmlns:a="http://schemas.openxmlformats.org/drawingml/2006/main" noGrp="1"/>
          </p:cNvSpPr>
          <p:nvPr/>
        </p:nvSpPr>
        <p:spPr>
          <a:xfrm xmlns:a="http://schemas.openxmlformats.org/drawingml/2006/main">
            <a:off x="9020175"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95%</a:t>
            </a:r>
          </a:p>
        </p:txBody>
      </p:sp>
      <p:sp>
        <p:nvSpPr>
          <p:cNvPr id="25" name="">
            <a:extLst xmlns:a="http://schemas.openxmlformats.org/drawingml/2006/main">
              <a:ext uri="{FF2B5EF4-FFF2-40B4-BE49-F238E27FC236}">
                <a16:creationId xmlns:a16="http://schemas.microsoft.com/office/drawing/2014/main" id="{83DA213C-DC73-4309-AD13-483B0C206962}"/>
              </a:ext>
            </a:extLst>
          </p:cNvPr>
          <p:cNvSpPr>
            <a:spLocks xmlns:a="http://schemas.openxmlformats.org/drawingml/2006/main" noGrp="1"/>
          </p:cNvSpPr>
          <p:nvPr/>
        </p:nvSpPr>
        <p:spPr>
          <a:xfrm xmlns:a="http://schemas.openxmlformats.org/drawingml/2006/main">
            <a:off x="9020175"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confidence intervals</a:t>
            </a:r>
          </a:p>
        </p:txBody>
      </p:sp>
      <p:sp>
        <p:nvSpPr>
          <p:cNvPr id="26" name="">
            <a:extLst xmlns:a="http://schemas.openxmlformats.org/drawingml/2006/main">
              <a:ext uri="{FF2B5EF4-FFF2-40B4-BE49-F238E27FC236}">
                <a16:creationId xmlns:a16="http://schemas.microsoft.com/office/drawing/2014/main" id="{5A2EFD32-EDB6-4B41-AF12-C675B3B2FD4B}"/>
              </a:ext>
            </a:extLst>
          </p:cNvPr>
          <p:cNvSpPr>
            <a:spLocks xmlns:a="http://schemas.openxmlformats.org/drawingml/2006/main" noGrp="1"/>
          </p:cNvSpPr>
          <p:nvPr/>
        </p:nvSpPr>
        <p:spPr>
          <a:xfrm xmlns:a="http://schemas.openxmlformats.org/drawingml/2006/main">
            <a:off x="2038350" y="5257800"/>
            <a:ext cx="8115300" cy="47625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Precision target met: relative CI half-width &lt;= 5% for every selected policy</a:t>
            </a:r>
          </a:p>
        </p:txBody>
      </p:sp>
      <p:sp>
        <p:nvSpPr>
          <p:cNvPr id="27" name="">
            <a:extLst xmlns:a="http://schemas.openxmlformats.org/drawingml/2006/main">
              <a:ext uri="{FF2B5EF4-FFF2-40B4-BE49-F238E27FC236}">
                <a16:creationId xmlns:a16="http://schemas.microsoft.com/office/drawing/2014/main" id="{4F0AB39F-8802-4CC0-9443-C7997012580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28" name="source-footer">
            <a:extLst xmlns:a="http://schemas.openxmlformats.org/drawingml/2006/main">
              <a:ext uri="{FF2B5EF4-FFF2-40B4-BE49-F238E27FC236}">
                <a16:creationId xmlns:a16="http://schemas.microsoft.com/office/drawing/2014/main" id="{752F4183-A6BD-4183-BD8C-8E2601C65E4A}"/>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Final AnyLogic experiment settings. Law (2015) simulation output-analysis principles as applied in the report.</a:t>
            </a:r>
          </a:p>
        </p:txBody>
      </p:sp>
      <p:sp>
        <p:nvSpPr>
          <p:cNvPr id="29" name="slide-number">
            <a:extLst xmlns:a="http://schemas.openxmlformats.org/drawingml/2006/main">
              <a:ext uri="{FF2B5EF4-FFF2-40B4-BE49-F238E27FC236}">
                <a16:creationId xmlns:a16="http://schemas.microsoft.com/office/drawing/2014/main" id="{B1A3AA38-5DE6-4624-A09E-1D82AA85970C}"/>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04</a:t>
            </a:r>
          </a:p>
        </p:txBody>
      </p:sp>
    </p:spTree>
    <p:extLst>
      <p:ext uri="{BB962C8B-B14F-4D97-AF65-F5344CB8AC3E}">
        <p14:creationId xmlns:p14="http://schemas.microsoft.com/office/powerpoint/2010/main" val="15305987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6206577B-2379-4032-9459-CFD6E4CBB750}"/>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Q2 provides a stable benchmark rather than a priority solution</a:t>
            </a:r>
          </a:p>
        </p:txBody>
      </p:sp>
      <p:sp>
        <p:nvSpPr>
          <p:cNvPr id="2" name="">
            <a:extLst xmlns:a="http://schemas.openxmlformats.org/drawingml/2006/main">
              <a:ext uri="{FF2B5EF4-FFF2-40B4-BE49-F238E27FC236}">
                <a16:creationId xmlns:a16="http://schemas.microsoft.com/office/drawing/2014/main" id="{6BC3D88E-F300-4841-B679-247E5256D68D}"/>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BE60DC-1230-4FB6-9F63-134A9A5E3036}"/>
              </a:ext>
            </a:extLst>
          </p:cNvPr>
          <p:cNvSpPr>
            <a:spLocks xmlns:a="http://schemas.openxmlformats.org/drawingml/2006/main" noGrp="1"/>
          </p:cNvSpPr>
          <p:nvPr/>
        </p:nvSpPr>
        <p:spPr>
          <a:xfrm xmlns:a="http://schemas.openxmlformats.org/drawingml/2006/main">
            <a:off x="819150" y="175260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600" b="1">
                <a:solidFill>
                  <a:srgbClr val="007F82"/>
                </a:solidFill>
                <a:latin typeface="Aptos Display"/>
                <a:ea typeface="Aptos Display"/>
                <a:cs typeface="Aptos Display"/>
              </a:defRPr>
            </a:pPr>
            <a:r>
              <a:rPr sz="3600" b="1">
                <a:solidFill>
                  <a:srgbClr val="007F82"/>
                </a:solidFill>
                <a:latin typeface="Aptos Display"/>
                <a:ea typeface="Aptos Display"/>
                <a:cs typeface="Aptos Display"/>
              </a:rPr>
              <a:t>4.148</a:t>
            </a:r>
          </a:p>
        </p:txBody>
      </p:sp>
      <p:sp>
        <p:nvSpPr>
          <p:cNvPr id="4" name="">
            <a:extLst xmlns:a="http://schemas.openxmlformats.org/drawingml/2006/main">
              <a:ext uri="{FF2B5EF4-FFF2-40B4-BE49-F238E27FC236}">
                <a16:creationId xmlns:a16="http://schemas.microsoft.com/office/drawing/2014/main" id="{575A4C66-EA08-441E-AAAE-837A6C81889B}"/>
              </a:ext>
            </a:extLst>
          </p:cNvPr>
          <p:cNvSpPr>
            <a:spLocks xmlns:a="http://schemas.openxmlformats.org/drawingml/2006/main" noGrp="1"/>
          </p:cNvSpPr>
          <p:nvPr/>
        </p:nvSpPr>
        <p:spPr>
          <a:xfrm xmlns:a="http://schemas.openxmlformats.org/drawingml/2006/main">
            <a:off x="819150" y="24384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687783"/>
                </a:solidFill>
                <a:latin typeface="Aptos"/>
                <a:ea typeface="Aptos"/>
                <a:cs typeface="Aptos"/>
              </a:defRPr>
            </a:pPr>
            <a:r>
              <a:rPr sz="1350" b="1">
                <a:solidFill>
                  <a:srgbClr val="687783"/>
                </a:solidFill>
                <a:latin typeface="Aptos"/>
                <a:ea typeface="Aptos"/>
                <a:cs typeface="Aptos"/>
              </a:rPr>
              <a:t>overall mean waiting (days)</a:t>
            </a:r>
          </a:p>
        </p:txBody>
      </p:sp>
      <p:sp>
        <p:nvSpPr>
          <p:cNvPr id="5" name="">
            <a:extLst xmlns:a="http://schemas.openxmlformats.org/drawingml/2006/main">
              <a:ext uri="{FF2B5EF4-FFF2-40B4-BE49-F238E27FC236}">
                <a16:creationId xmlns:a16="http://schemas.microsoft.com/office/drawing/2014/main" id="{33D8096C-E45C-4775-A7A5-4CBAD6E409CB}"/>
              </a:ext>
            </a:extLst>
          </p:cNvPr>
          <p:cNvSpPr>
            <a:spLocks xmlns:a="http://schemas.openxmlformats.org/drawingml/2006/main" noGrp="1"/>
          </p:cNvSpPr>
          <p:nvPr/>
        </p:nvSpPr>
        <p:spPr>
          <a:xfrm xmlns:a="http://schemas.openxmlformats.org/drawingml/2006/main">
            <a:off x="838200" y="29908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7324D"/>
                </a:solidFill>
                <a:latin typeface="Aptos"/>
                <a:ea typeface="Aptos"/>
                <a:cs typeface="Aptos"/>
              </a:defRPr>
            </a:pPr>
            <a:r>
              <a:rPr sz="1575" b="1">
                <a:solidFill>
                  <a:srgbClr val="17324D"/>
                </a:solidFill>
                <a:latin typeface="Aptos"/>
                <a:ea typeface="Aptos"/>
                <a:cs typeface="Aptos"/>
              </a:rPr>
              <a:t>95% CI [3.978, 4.318]</a:t>
            </a:r>
          </a:p>
        </p:txBody>
      </p:sp>
      <p:sp>
        <p:nvSpPr>
          <p:cNvPr id="6" name="">
            <a:extLst xmlns:a="http://schemas.openxmlformats.org/drawingml/2006/main">
              <a:ext uri="{FF2B5EF4-FFF2-40B4-BE49-F238E27FC236}">
                <a16:creationId xmlns:a16="http://schemas.microsoft.com/office/drawing/2014/main" id="{1E752DFA-27FA-40D6-ADDC-8ADCDB05D37B}"/>
              </a:ext>
            </a:extLst>
          </p:cNvPr>
          <p:cNvSpPr>
            <a:spLocks xmlns:a="http://schemas.openxmlformats.org/drawingml/2006/main" noGrp="1"/>
          </p:cNvSpPr>
          <p:nvPr/>
        </p:nvSpPr>
        <p:spPr>
          <a:xfrm xmlns:a="http://schemas.openxmlformats.org/drawingml/2006/main">
            <a:off x="838200" y="35242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687783"/>
                </a:solidFill>
                <a:latin typeface="Aptos"/>
                <a:ea typeface="Aptos"/>
                <a:cs typeface="Aptos"/>
              </a:defRPr>
            </a:pPr>
            <a:r>
              <a:rPr sz="1500" b="0">
                <a:solidFill>
                  <a:srgbClr val="687783"/>
                </a:solidFill>
                <a:latin typeface="Aptos"/>
                <a:ea typeface="Aptos"/>
                <a:cs typeface="Aptos"/>
              </a:rPr>
              <a:t>Urgent 4.148   |   Routine 4.148</a:t>
            </a:r>
          </a:p>
        </p:txBody>
      </p:sp>
      <p:sp>
        <p:nvSpPr>
          <p:cNvPr id="7" name="">
            <a:extLst xmlns:a="http://schemas.openxmlformats.org/drawingml/2006/main">
              <a:ext uri="{FF2B5EF4-FFF2-40B4-BE49-F238E27FC236}">
                <a16:creationId xmlns:a16="http://schemas.microsoft.com/office/drawing/2014/main" id="{1DF89204-7D39-43EF-B991-68B7841720D0}"/>
              </a:ext>
            </a:extLst>
          </p:cNvPr>
          <p:cNvSpPr>
            <a:spLocks xmlns:a="http://schemas.openxmlformats.org/drawingml/2006/main" noGrp="1"/>
          </p:cNvSpPr>
          <p:nvPr/>
        </p:nvSpPr>
        <p:spPr>
          <a:xfrm xmlns:a="http://schemas.openxmlformats.org/drawingml/2006/main">
            <a:off x="4953000" y="1638300"/>
            <a:ext cx="6191250" cy="2609850"/>
          </a:xfrm>
          <a:prstGeom xmlns:a="http://schemas.openxmlformats.org/drawingml/2006/main" prst="roundRect">
            <a:avLst>
              <a:gd name="adj" fmla="val 8759"/>
            </a:avLst>
          </a:prstGeom>
          <a:solidFill xmlns:a="http://schemas.openxmlformats.org/drawingml/2006/main">
            <a:srgbClr val="EEF2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B595D2-D8FA-43F4-81A2-AC82FC184926}"/>
              </a:ext>
            </a:extLst>
          </p:cNvPr>
          <p:cNvSpPr>
            <a:spLocks xmlns:a="http://schemas.openxmlformats.org/drawingml/2006/main" noGrp="1"/>
          </p:cNvSpPr>
          <p:nvPr/>
        </p:nvSpPr>
        <p:spPr>
          <a:xfrm xmlns:a="http://schemas.openxmlformats.org/drawingml/2006/main">
            <a:off x="5295900" y="19240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324D"/>
                </a:solidFill>
                <a:latin typeface="Aptos"/>
                <a:ea typeface="Aptos"/>
                <a:cs typeface="Aptos"/>
              </a:defRPr>
            </a:pPr>
            <a:r>
              <a:rPr sz="1800" b="1">
                <a:solidFill>
                  <a:srgbClr val="17324D"/>
                </a:solidFill>
                <a:latin typeface="Aptos"/>
                <a:ea typeface="Aptos"/>
                <a:cs typeface="Aptos"/>
              </a:rPr>
              <a:t>Warm-up sensitivity</a:t>
            </a:r>
          </a:p>
        </p:txBody>
      </p:sp>
      <p:sp>
        <p:nvSpPr>
          <p:cNvPr id="9" name="">
            <a:extLst xmlns:a="http://schemas.openxmlformats.org/drawingml/2006/main">
              <a:ext uri="{FF2B5EF4-FFF2-40B4-BE49-F238E27FC236}">
                <a16:creationId xmlns:a16="http://schemas.microsoft.com/office/drawing/2014/main" id="{947EEC3F-92C1-440A-B14A-979DC6D82826}"/>
              </a:ext>
            </a:extLst>
          </p:cNvPr>
          <p:cNvSpPr>
            <a:spLocks xmlns:a="http://schemas.openxmlformats.org/drawingml/2006/main" noGrp="1"/>
          </p:cNvSpPr>
          <p:nvPr/>
        </p:nvSpPr>
        <p:spPr>
          <a:xfrm xmlns:a="http://schemas.openxmlformats.org/drawingml/2006/main">
            <a:off x="5314950" y="24860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687783"/>
                </a:solidFill>
                <a:latin typeface="Aptos"/>
                <a:ea typeface="Aptos"/>
                <a:cs typeface="Aptos"/>
              </a:defRPr>
            </a:pPr>
            <a:r>
              <a:rPr sz="1425" b="0">
                <a:solidFill>
                  <a:srgbClr val="687783"/>
                </a:solidFill>
                <a:latin typeface="Aptos"/>
                <a:ea typeface="Aptos"/>
                <a:cs typeface="Aptos"/>
              </a:rPr>
              <a:t>500 served</a:t>
            </a:r>
          </a:p>
        </p:txBody>
      </p:sp>
      <p:sp>
        <p:nvSpPr>
          <p:cNvPr id="10" name="">
            <a:extLst xmlns:a="http://schemas.openxmlformats.org/drawingml/2006/main">
              <a:ext uri="{FF2B5EF4-FFF2-40B4-BE49-F238E27FC236}">
                <a16:creationId xmlns:a16="http://schemas.microsoft.com/office/drawing/2014/main" id="{C3DC85E4-6DFB-4BB3-9C12-95BFC73DA6F7}"/>
              </a:ext>
            </a:extLst>
          </p:cNvPr>
          <p:cNvSpPr>
            <a:spLocks xmlns:a="http://schemas.openxmlformats.org/drawingml/2006/main" noGrp="1"/>
          </p:cNvSpPr>
          <p:nvPr/>
        </p:nvSpPr>
        <p:spPr>
          <a:xfrm xmlns:a="http://schemas.openxmlformats.org/drawingml/2006/main">
            <a:off x="8229600" y="24860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007F82"/>
                </a:solidFill>
                <a:latin typeface="Aptos"/>
                <a:ea typeface="Aptos"/>
                <a:cs typeface="Aptos"/>
              </a:defRPr>
            </a:pPr>
            <a:r>
              <a:rPr sz="1875" b="1">
                <a:solidFill>
                  <a:srgbClr val="007F82"/>
                </a:solidFill>
                <a:latin typeface="Aptos"/>
                <a:ea typeface="Aptos"/>
                <a:cs typeface="Aptos"/>
              </a:rPr>
              <a:t>4.133</a:t>
            </a:r>
          </a:p>
        </p:txBody>
      </p:sp>
      <p:sp>
        <p:nvSpPr>
          <p:cNvPr id="11" name="">
            <a:extLst xmlns:a="http://schemas.openxmlformats.org/drawingml/2006/main">
              <a:ext uri="{FF2B5EF4-FFF2-40B4-BE49-F238E27FC236}">
                <a16:creationId xmlns:a16="http://schemas.microsoft.com/office/drawing/2014/main" id="{31AEBA04-B24B-43E4-A60D-590F9B326847}"/>
              </a:ext>
            </a:extLst>
          </p:cNvPr>
          <p:cNvSpPr>
            <a:spLocks xmlns:a="http://schemas.openxmlformats.org/drawingml/2006/main" noGrp="1"/>
          </p:cNvSpPr>
          <p:nvPr/>
        </p:nvSpPr>
        <p:spPr>
          <a:xfrm xmlns:a="http://schemas.openxmlformats.org/drawingml/2006/main">
            <a:off x="5314950" y="30099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687783"/>
                </a:solidFill>
                <a:latin typeface="Aptos"/>
                <a:ea typeface="Aptos"/>
                <a:cs typeface="Aptos"/>
              </a:defRPr>
            </a:pPr>
            <a:r>
              <a:rPr sz="1425" b="0">
                <a:solidFill>
                  <a:srgbClr val="687783"/>
                </a:solidFill>
                <a:latin typeface="Aptos"/>
                <a:ea typeface="Aptos"/>
                <a:cs typeface="Aptos"/>
              </a:rPr>
              <a:t>1,000 served</a:t>
            </a:r>
          </a:p>
        </p:txBody>
      </p:sp>
      <p:sp>
        <p:nvSpPr>
          <p:cNvPr id="12" name="">
            <a:extLst xmlns:a="http://schemas.openxmlformats.org/drawingml/2006/main">
              <a:ext uri="{FF2B5EF4-FFF2-40B4-BE49-F238E27FC236}">
                <a16:creationId xmlns:a16="http://schemas.microsoft.com/office/drawing/2014/main" id="{A3384BCC-8F1E-4EA5-B93D-B3DF95512E63}"/>
              </a:ext>
            </a:extLst>
          </p:cNvPr>
          <p:cNvSpPr>
            <a:spLocks xmlns:a="http://schemas.openxmlformats.org/drawingml/2006/main" noGrp="1"/>
          </p:cNvSpPr>
          <p:nvPr/>
        </p:nvSpPr>
        <p:spPr>
          <a:xfrm xmlns:a="http://schemas.openxmlformats.org/drawingml/2006/main">
            <a:off x="82296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007F82"/>
                </a:solidFill>
                <a:latin typeface="Aptos"/>
                <a:ea typeface="Aptos"/>
                <a:cs typeface="Aptos"/>
              </a:defRPr>
            </a:pPr>
            <a:r>
              <a:rPr sz="1875" b="1">
                <a:solidFill>
                  <a:srgbClr val="007F82"/>
                </a:solidFill>
                <a:latin typeface="Aptos"/>
                <a:ea typeface="Aptos"/>
                <a:cs typeface="Aptos"/>
              </a:rPr>
              <a:t>4.148</a:t>
            </a:r>
          </a:p>
        </p:txBody>
      </p:sp>
      <p:sp>
        <p:nvSpPr>
          <p:cNvPr id="13" name="">
            <a:extLst xmlns:a="http://schemas.openxmlformats.org/drawingml/2006/main">
              <a:ext uri="{FF2B5EF4-FFF2-40B4-BE49-F238E27FC236}">
                <a16:creationId xmlns:a16="http://schemas.microsoft.com/office/drawing/2014/main" id="{841A9E58-8FF7-4AFF-9C7C-DD1DD0951CF8}"/>
              </a:ext>
            </a:extLst>
          </p:cNvPr>
          <p:cNvSpPr>
            <a:spLocks xmlns:a="http://schemas.openxmlformats.org/drawingml/2006/main" noGrp="1"/>
          </p:cNvSpPr>
          <p:nvPr/>
        </p:nvSpPr>
        <p:spPr>
          <a:xfrm xmlns:a="http://schemas.openxmlformats.org/drawingml/2006/main">
            <a:off x="5314950" y="35337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687783"/>
                </a:solidFill>
                <a:latin typeface="Aptos"/>
                <a:ea typeface="Aptos"/>
                <a:cs typeface="Aptos"/>
              </a:defRPr>
            </a:pPr>
            <a:r>
              <a:rPr sz="1425" b="0">
                <a:solidFill>
                  <a:srgbClr val="687783"/>
                </a:solidFill>
                <a:latin typeface="Aptos"/>
                <a:ea typeface="Aptos"/>
                <a:cs typeface="Aptos"/>
              </a:rPr>
              <a:t>2,000 served</a:t>
            </a:r>
          </a:p>
        </p:txBody>
      </p:sp>
      <p:sp>
        <p:nvSpPr>
          <p:cNvPr id="14" name="">
            <a:extLst xmlns:a="http://schemas.openxmlformats.org/drawingml/2006/main">
              <a:ext uri="{FF2B5EF4-FFF2-40B4-BE49-F238E27FC236}">
                <a16:creationId xmlns:a16="http://schemas.microsoft.com/office/drawing/2014/main" id="{87C51430-987F-48DB-9247-4AA962CF88B8}"/>
              </a:ext>
            </a:extLst>
          </p:cNvPr>
          <p:cNvSpPr>
            <a:spLocks xmlns:a="http://schemas.openxmlformats.org/drawingml/2006/main" noGrp="1"/>
          </p:cNvSpPr>
          <p:nvPr/>
        </p:nvSpPr>
        <p:spPr>
          <a:xfrm xmlns:a="http://schemas.openxmlformats.org/drawingml/2006/main">
            <a:off x="8229600" y="35337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875" b="1">
                <a:solidFill>
                  <a:srgbClr val="007F82"/>
                </a:solidFill>
                <a:latin typeface="Aptos"/>
                <a:ea typeface="Aptos"/>
                <a:cs typeface="Aptos"/>
              </a:defRPr>
            </a:pPr>
            <a:r>
              <a:rPr sz="1875" b="1">
                <a:solidFill>
                  <a:srgbClr val="007F82"/>
                </a:solidFill>
                <a:latin typeface="Aptos"/>
                <a:ea typeface="Aptos"/>
                <a:cs typeface="Aptos"/>
              </a:rPr>
              <a:t>4.172</a:t>
            </a:r>
          </a:p>
        </p:txBody>
      </p:sp>
      <p:sp>
        <p:nvSpPr>
          <p:cNvPr id="15" name="">
            <a:extLst xmlns:a="http://schemas.openxmlformats.org/drawingml/2006/main">
              <a:ext uri="{FF2B5EF4-FFF2-40B4-BE49-F238E27FC236}">
                <a16:creationId xmlns:a16="http://schemas.microsoft.com/office/drawing/2014/main" id="{051BA3F5-352A-4E2D-8A42-AC28E9CB9B02}"/>
              </a:ext>
            </a:extLst>
          </p:cNvPr>
          <p:cNvSpPr>
            <a:spLocks xmlns:a="http://schemas.openxmlformats.org/drawingml/2006/main" noGrp="1"/>
          </p:cNvSpPr>
          <p:nvPr/>
        </p:nvSpPr>
        <p:spPr>
          <a:xfrm xmlns:a="http://schemas.openxmlformats.org/drawingml/2006/main">
            <a:off x="1543050" y="4857750"/>
            <a:ext cx="9105900" cy="704850"/>
          </a:xfrm>
          <a:prstGeom xmlns:a="http://schemas.openxmlformats.org/drawingml/2006/main" prst="roundRect">
            <a:avLst>
              <a:gd name="adj" fmla="val 24324"/>
            </a:avLst>
          </a:prstGeom>
          <a:solidFill xmlns:a="http://schemas.openxmlformats.org/drawingml/2006/main">
            <a:srgbClr val="DCEEE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17324D"/>
                </a:solidFill>
                <a:latin typeface="Aptos"/>
                <a:ea typeface="Aptos"/>
                <a:cs typeface="Aptos"/>
              </a:defRPr>
            </a:pPr>
            <a:r>
              <a:rPr sz="1875" b="1">
                <a:solidFill>
                  <a:srgbClr val="17324D"/>
                </a:solidFill>
                <a:latin typeface="Aptos"/>
                <a:ea typeface="Aptos"/>
                <a:cs typeface="Aptos"/>
              </a:rPr>
              <a:t>Strongly overlapping confidence intervals support a stable benchmark.</a:t>
            </a:r>
          </a:p>
        </p:txBody>
      </p:sp>
      <p:sp>
        <p:nvSpPr>
          <p:cNvPr id="16" name="">
            <a:extLst xmlns:a="http://schemas.openxmlformats.org/drawingml/2006/main">
              <a:ext uri="{FF2B5EF4-FFF2-40B4-BE49-F238E27FC236}">
                <a16:creationId xmlns:a16="http://schemas.microsoft.com/office/drawing/2014/main" id="{8BF5430C-E47E-45E4-8B69-42C5205E119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7" name="source-footer">
            <a:extLst xmlns:a="http://schemas.openxmlformats.org/drawingml/2006/main">
              <a:ext uri="{FF2B5EF4-FFF2-40B4-BE49-F238E27FC236}">
                <a16:creationId xmlns:a16="http://schemas.microsoft.com/office/drawing/2014/main" id="{8A5A708E-8FED-46C0-A921-D85714EA9165}"/>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Q2 250-replication output; report Section 4.1.</a:t>
            </a:r>
          </a:p>
        </p:txBody>
      </p:sp>
      <p:sp>
        <p:nvSpPr>
          <p:cNvPr id="18" name="slide-number">
            <a:extLst xmlns:a="http://schemas.openxmlformats.org/drawingml/2006/main">
              <a:ext uri="{FF2B5EF4-FFF2-40B4-BE49-F238E27FC236}">
                <a16:creationId xmlns:a16="http://schemas.microsoft.com/office/drawing/2014/main" id="{DBD928D1-C66A-49CC-9686-2EB48A8DAE20}"/>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05</a:t>
            </a:r>
          </a:p>
        </p:txBody>
      </p:sp>
    </p:spTree>
    <p:extLst>
      <p:ext uri="{BB962C8B-B14F-4D97-AF65-F5344CB8AC3E}">
        <p14:creationId xmlns:p14="http://schemas.microsoft.com/office/powerpoint/2010/main" val="318143319"/>
      </p:ext>
    </p:extLst>
  </p:cSld>
</p:sld>
</file>

<file path=ppt/slides/slide6.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48C401-C051-45E4-B7B1-8D87B5822573}"/>
              </a:ext>
            </a:extLst>
          </p:cNvPr>
          <p:cNvSpPr>
            <a:spLocks xmlns:a="http://schemas.openxmlformats.org/drawingml/2006/main" noGrp="1"/>
          </p:cNvSpPr>
          <p:nvPr/>
        </p:nvSpPr>
        <p:spPr>
          <a:xfrm xmlns:a="http://schemas.openxmlformats.org/drawingml/2006/main">
            <a:off x="685800" y="4572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Q3 halves urgent waiting by shifting delay to routine patients</a:t>
            </a:r>
          </a:p>
        </p:txBody>
      </p:sp>
      <p:sp>
        <p:nvSpPr>
          <p:cNvPr id="2" name="">
            <a:extLst xmlns:a="http://schemas.openxmlformats.org/drawingml/2006/main">
              <a:ext uri="{FF2B5EF4-FFF2-40B4-BE49-F238E27FC236}">
                <a16:creationId xmlns:a16="http://schemas.microsoft.com/office/drawing/2014/main" id="{67DD9AC6-AA97-4485-9126-6304331890F9}"/>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1B606A-CD67-4335-A392-7FE4FE157D31}"/>
              </a:ext>
            </a:extLst>
          </p:cNvPr>
          <p:cNvSpPr>
            <a:spLocks xmlns:a="http://schemas.openxmlformats.org/drawingml/2006/main" noGrp="1"/>
          </p:cNvSpPr>
          <p:nvPr/>
        </p:nvSpPr>
        <p:spPr>
          <a:xfrm xmlns:a="http://schemas.openxmlformats.org/drawingml/2006/main">
            <a:off x="819150" y="1657350"/>
            <a:ext cx="657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CDEBEC"/>
                </a:solidFill>
                <a:latin typeface="Aptos"/>
                <a:ea typeface="Aptos"/>
                <a:cs typeface="Aptos"/>
              </a:defRPr>
            </a:pPr>
            <a:r>
              <a:rPr sz="2325" b="1">
                <a:solidFill>
                  <a:srgbClr val="CDEBEC"/>
                </a:solidFill>
                <a:latin typeface="Aptos"/>
                <a:ea typeface="Aptos"/>
                <a:cs typeface="Aptos"/>
              </a:rPr>
              <a:t>Postponement = round(α1 NU + α2 NU²)</a:t>
            </a:r>
          </a:p>
        </p:txBody>
      </p:sp>
      <p:sp>
        <p:nvSpPr>
          <p:cNvPr id="4" name="">
            <a:extLst xmlns:a="http://schemas.openxmlformats.org/drawingml/2006/main">
              <a:ext uri="{FF2B5EF4-FFF2-40B4-BE49-F238E27FC236}">
                <a16:creationId xmlns:a16="http://schemas.microsoft.com/office/drawing/2014/main" id="{6227F094-29D8-4E38-B41D-7C8524D07634}"/>
              </a:ext>
            </a:extLst>
          </p:cNvPr>
          <p:cNvSpPr>
            <a:spLocks xmlns:a="http://schemas.openxmlformats.org/drawingml/2006/main" noGrp="1"/>
          </p:cNvSpPr>
          <p:nvPr/>
        </p:nvSpPr>
        <p:spPr>
          <a:xfrm xmlns:a="http://schemas.openxmlformats.org/drawingml/2006/main">
            <a:off x="838200" y="2400300"/>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α1 = 0   |   α2 = 0.35</a:t>
            </a:r>
          </a:p>
        </p:txBody>
      </p:sp>
      <p:sp>
        <p:nvSpPr>
          <p:cNvPr id="5" name="">
            <a:extLst xmlns:a="http://schemas.openxmlformats.org/drawingml/2006/main">
              <a:ext uri="{FF2B5EF4-FFF2-40B4-BE49-F238E27FC236}">
                <a16:creationId xmlns:a16="http://schemas.microsoft.com/office/drawing/2014/main" id="{F6CABFCE-6067-4CF1-9CE3-A6BE2CD979DA}"/>
              </a:ext>
            </a:extLst>
          </p:cNvPr>
          <p:cNvSpPr>
            <a:spLocks xmlns:a="http://schemas.openxmlformats.org/drawingml/2006/main" noGrp="1"/>
          </p:cNvSpPr>
          <p:nvPr/>
        </p:nvSpPr>
        <p:spPr>
          <a:xfrm xmlns:a="http://schemas.openxmlformats.org/drawingml/2006/main">
            <a:off x="838200" y="312420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Urgent backlog increases</a:t>
            </a:r>
          </a:p>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protection nonlinearly.</a:t>
            </a:r>
          </a:p>
        </p:txBody>
      </p:sp>
      <p:sp>
        <p:nvSpPr>
          <p:cNvPr id="6" name="">
            <a:extLst xmlns:a="http://schemas.openxmlformats.org/drawingml/2006/main">
              <a:ext uri="{FF2B5EF4-FFF2-40B4-BE49-F238E27FC236}">
                <a16:creationId xmlns:a16="http://schemas.microsoft.com/office/drawing/2014/main" id="{C7F5C4CE-9BFA-4AC6-A2DF-1D9185507A91}"/>
              </a:ext>
            </a:extLst>
          </p:cNvPr>
          <p:cNvSpPr>
            <a:spLocks xmlns:a="http://schemas.openxmlformats.org/drawingml/2006/main" noGrp="1"/>
          </p:cNvSpPr>
          <p:nvPr/>
        </p:nvSpPr>
        <p:spPr>
          <a:xfrm xmlns:a="http://schemas.openxmlformats.org/drawingml/2006/main">
            <a:off x="7715250" y="1562100"/>
            <a:ext cx="3200400" cy="23431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008E0D-EE08-40CA-BC81-D594C3A8CFB5}"/>
              </a:ext>
            </a:extLst>
          </p:cNvPr>
          <p:cNvSpPr>
            <a:spLocks xmlns:a="http://schemas.openxmlformats.org/drawingml/2006/main" noGrp="1"/>
          </p:cNvSpPr>
          <p:nvPr/>
        </p:nvSpPr>
        <p:spPr>
          <a:xfrm xmlns:a="http://schemas.openxmlformats.org/drawingml/2006/main">
            <a:off x="8058150" y="19431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4650" b="1">
                <a:solidFill>
                  <a:srgbClr val="007F82"/>
                </a:solidFill>
                <a:latin typeface="Aptos Display"/>
                <a:ea typeface="Aptos Display"/>
                <a:cs typeface="Aptos Display"/>
              </a:defRPr>
            </a:pPr>
            <a:r>
              <a:rPr sz="4650" b="1">
                <a:solidFill>
                  <a:srgbClr val="007F82"/>
                </a:solidFill>
                <a:latin typeface="Aptos Display"/>
                <a:ea typeface="Aptos Display"/>
                <a:cs typeface="Aptos Display"/>
              </a:rPr>
              <a:t>2.123</a:t>
            </a:r>
          </a:p>
        </p:txBody>
      </p:sp>
      <p:sp>
        <p:nvSpPr>
          <p:cNvPr id="8" name="">
            <a:extLst xmlns:a="http://schemas.openxmlformats.org/drawingml/2006/main">
              <a:ext uri="{FF2B5EF4-FFF2-40B4-BE49-F238E27FC236}">
                <a16:creationId xmlns:a16="http://schemas.microsoft.com/office/drawing/2014/main" id="{23270D10-A607-4394-A439-E0AE05F2645A}"/>
              </a:ext>
            </a:extLst>
          </p:cNvPr>
          <p:cNvSpPr>
            <a:spLocks xmlns:a="http://schemas.openxmlformats.org/drawingml/2006/main" noGrp="1"/>
          </p:cNvSpPr>
          <p:nvPr/>
        </p:nvSpPr>
        <p:spPr>
          <a:xfrm xmlns:a="http://schemas.openxmlformats.org/drawingml/2006/main">
            <a:off x="8058150" y="27813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324D"/>
                </a:solidFill>
                <a:latin typeface="Aptos"/>
                <a:ea typeface="Aptos"/>
                <a:cs typeface="Aptos"/>
              </a:defRPr>
            </a:pPr>
            <a:r>
              <a:rPr sz="1500" b="1">
                <a:solidFill>
                  <a:srgbClr val="17324D"/>
                </a:solidFill>
                <a:latin typeface="Aptos"/>
                <a:ea typeface="Aptos"/>
                <a:cs typeface="Aptos"/>
              </a:rPr>
              <a:t>urgent mean (days)</a:t>
            </a:r>
          </a:p>
        </p:txBody>
      </p:sp>
      <p:sp>
        <p:nvSpPr>
          <p:cNvPr id="9" name="">
            <a:extLst xmlns:a="http://schemas.openxmlformats.org/drawingml/2006/main">
              <a:ext uri="{FF2B5EF4-FFF2-40B4-BE49-F238E27FC236}">
                <a16:creationId xmlns:a16="http://schemas.microsoft.com/office/drawing/2014/main" id="{2C8F0CCE-8351-4BCF-8A0C-9394828140FA}"/>
              </a:ext>
            </a:extLst>
          </p:cNvPr>
          <p:cNvSpPr>
            <a:spLocks xmlns:a="http://schemas.openxmlformats.org/drawingml/2006/main" noGrp="1"/>
          </p:cNvSpPr>
          <p:nvPr/>
        </p:nvSpPr>
        <p:spPr>
          <a:xfrm xmlns:a="http://schemas.openxmlformats.org/drawingml/2006/main">
            <a:off x="8058150" y="33147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06164"/>
                </a:solidFill>
                <a:latin typeface="Aptos"/>
                <a:ea typeface="Aptos"/>
                <a:cs typeface="Aptos"/>
              </a:defRPr>
            </a:pPr>
            <a:r>
              <a:rPr sz="1650" b="1">
                <a:solidFill>
                  <a:srgbClr val="006164"/>
                </a:solidFill>
                <a:latin typeface="Aptos"/>
                <a:ea typeface="Aptos"/>
                <a:cs typeface="Aptos"/>
              </a:rPr>
              <a:t>48.8% below FAS</a:t>
            </a:r>
          </a:p>
        </p:txBody>
      </p:sp>
      <p:sp>
        <p:nvSpPr>
          <p:cNvPr id="10" name="">
            <a:extLst xmlns:a="http://schemas.openxmlformats.org/drawingml/2006/main">
              <a:ext uri="{FF2B5EF4-FFF2-40B4-BE49-F238E27FC236}">
                <a16:creationId xmlns:a16="http://schemas.microsoft.com/office/drawing/2014/main" id="{7A88EBA9-4D22-4E71-BF26-50D84EF037BD}"/>
              </a:ext>
            </a:extLst>
          </p:cNvPr>
          <p:cNvSpPr>
            <a:spLocks xmlns:a="http://schemas.openxmlformats.org/drawingml/2006/main" noGrp="1"/>
          </p:cNvSpPr>
          <p:nvPr/>
        </p:nvSpPr>
        <p:spPr>
          <a:xfrm xmlns:a="http://schemas.openxmlformats.org/drawingml/2006/main">
            <a:off x="819150" y="4552950"/>
            <a:ext cx="10096500" cy="1066800"/>
          </a:xfrm>
          <a:prstGeom xmlns:a="http://schemas.openxmlformats.org/drawingml/2006/main" prst="roundRect">
            <a:avLst>
              <a:gd name="adj" fmla="val 17857"/>
            </a:avLst>
          </a:prstGeom>
          <a:solidFill xmlns:a="http://schemas.openxmlformats.org/drawingml/2006/main">
            <a:srgbClr val="FFFFFF">
              <a:alpha val="9412"/>
            </a:srgbClr>
          </a:solidFill>
          <a:ln xmlns:a="http://schemas.openxmlformats.org/drawingml/2006/main" w="9525">
            <a:solidFill>
              <a:srgbClr val="FFFFFF">
                <a:alpha val="18824"/>
              </a:srgbClr>
            </a:solidFill>
            <a:prstDash val="solid"/>
          </a:ln>
        </p:spPr>
      </p:sp>
      <p:sp>
        <p:nvSpPr>
          <p:cNvPr id="11" name="">
            <a:extLst xmlns:a="http://schemas.openxmlformats.org/drawingml/2006/main">
              <a:ext uri="{FF2B5EF4-FFF2-40B4-BE49-F238E27FC236}">
                <a16:creationId xmlns:a16="http://schemas.microsoft.com/office/drawing/2014/main" id="{E39F4CEC-6F85-48EB-99F1-F7DAC4BBF520}"/>
              </a:ext>
            </a:extLst>
          </p:cNvPr>
          <p:cNvSpPr>
            <a:spLocks xmlns:a="http://schemas.openxmlformats.org/drawingml/2006/main" noGrp="1"/>
          </p:cNvSpPr>
          <p:nvPr/>
        </p:nvSpPr>
        <p:spPr>
          <a:xfrm xmlns:a="http://schemas.openxmlformats.org/drawingml/2006/main">
            <a:off x="12573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BFD0DB"/>
                </a:solidFill>
                <a:latin typeface="Aptos"/>
                <a:ea typeface="Aptos"/>
                <a:cs typeface="Aptos"/>
              </a:defRPr>
            </a:pPr>
            <a:r>
              <a:rPr sz="1275" b="0">
                <a:solidFill>
                  <a:srgbClr val="BFD0DB"/>
                </a:solidFill>
                <a:latin typeface="Aptos"/>
                <a:ea typeface="Aptos"/>
                <a:cs typeface="Aptos"/>
              </a:rPr>
              <a:t>Routine</a:t>
            </a:r>
          </a:p>
        </p:txBody>
      </p:sp>
      <p:sp>
        <p:nvSpPr>
          <p:cNvPr id="12" name="">
            <a:extLst xmlns:a="http://schemas.openxmlformats.org/drawingml/2006/main">
              <a:ext uri="{FF2B5EF4-FFF2-40B4-BE49-F238E27FC236}">
                <a16:creationId xmlns:a16="http://schemas.microsoft.com/office/drawing/2014/main" id="{1D983110-6EDD-40BD-BFAD-375F299AD468}"/>
              </a:ext>
            </a:extLst>
          </p:cNvPr>
          <p:cNvSpPr>
            <a:spLocks xmlns:a="http://schemas.openxmlformats.org/drawingml/2006/main" noGrp="1"/>
          </p:cNvSpPr>
          <p:nvPr/>
        </p:nvSpPr>
        <p:spPr>
          <a:xfrm xmlns:a="http://schemas.openxmlformats.org/drawingml/2006/main">
            <a:off x="12573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FFD79A"/>
                </a:solidFill>
                <a:latin typeface="Aptos"/>
                <a:ea typeface="Aptos"/>
                <a:cs typeface="Aptos"/>
              </a:defRPr>
            </a:pPr>
            <a:r>
              <a:rPr sz="2025" b="1">
                <a:solidFill>
                  <a:srgbClr val="FFD79A"/>
                </a:solidFill>
                <a:latin typeface="Aptos"/>
                <a:ea typeface="Aptos"/>
                <a:cs typeface="Aptos"/>
              </a:rPr>
              <a:t>9.053 days</a:t>
            </a:r>
          </a:p>
        </p:txBody>
      </p:sp>
      <p:sp>
        <p:nvSpPr>
          <p:cNvPr id="13" name="">
            <a:extLst xmlns:a="http://schemas.openxmlformats.org/drawingml/2006/main">
              <a:ext uri="{FF2B5EF4-FFF2-40B4-BE49-F238E27FC236}">
                <a16:creationId xmlns:a16="http://schemas.microsoft.com/office/drawing/2014/main" id="{1B678197-A281-439F-B659-D8E59D67EA04}"/>
              </a:ext>
            </a:extLst>
          </p:cNvPr>
          <p:cNvSpPr>
            <a:spLocks xmlns:a="http://schemas.openxmlformats.org/drawingml/2006/main" noGrp="1"/>
          </p:cNvSpPr>
          <p:nvPr/>
        </p:nvSpPr>
        <p:spPr>
          <a:xfrm xmlns:a="http://schemas.openxmlformats.org/drawingml/2006/main">
            <a:off x="44958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BFD0DB"/>
                </a:solidFill>
                <a:latin typeface="Aptos"/>
                <a:ea typeface="Aptos"/>
                <a:cs typeface="Aptos"/>
              </a:defRPr>
            </a:pPr>
            <a:r>
              <a:rPr sz="1275" b="0">
                <a:solidFill>
                  <a:srgbClr val="BFD0DB"/>
                </a:solidFill>
                <a:latin typeface="Aptos"/>
                <a:ea typeface="Aptos"/>
                <a:cs typeface="Aptos"/>
              </a:rPr>
              <a:t>Overall</a:t>
            </a:r>
          </a:p>
        </p:txBody>
      </p:sp>
      <p:sp>
        <p:nvSpPr>
          <p:cNvPr id="14" name="">
            <a:extLst xmlns:a="http://schemas.openxmlformats.org/drawingml/2006/main">
              <a:ext uri="{FF2B5EF4-FFF2-40B4-BE49-F238E27FC236}">
                <a16:creationId xmlns:a16="http://schemas.microsoft.com/office/drawing/2014/main" id="{60E4839B-23DD-42A8-8ED5-FBE46479729D}"/>
              </a:ext>
            </a:extLst>
          </p:cNvPr>
          <p:cNvSpPr>
            <a:spLocks xmlns:a="http://schemas.openxmlformats.org/drawingml/2006/main" noGrp="1"/>
          </p:cNvSpPr>
          <p:nvPr/>
        </p:nvSpPr>
        <p:spPr>
          <a:xfrm xmlns:a="http://schemas.openxmlformats.org/drawingml/2006/main">
            <a:off x="44958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4.703 days</a:t>
            </a:r>
          </a:p>
        </p:txBody>
      </p:sp>
      <p:sp>
        <p:nvSpPr>
          <p:cNvPr id="15" name="">
            <a:extLst xmlns:a="http://schemas.openxmlformats.org/drawingml/2006/main">
              <a:ext uri="{FF2B5EF4-FFF2-40B4-BE49-F238E27FC236}">
                <a16:creationId xmlns:a16="http://schemas.microsoft.com/office/drawing/2014/main" id="{C9743112-CE11-4ED8-85E0-06B6DAA3ABDF}"/>
              </a:ext>
            </a:extLst>
          </p:cNvPr>
          <p:cNvSpPr>
            <a:spLocks xmlns:a="http://schemas.openxmlformats.org/drawingml/2006/main" noGrp="1"/>
          </p:cNvSpPr>
          <p:nvPr/>
        </p:nvSpPr>
        <p:spPr>
          <a:xfrm xmlns:a="http://schemas.openxmlformats.org/drawingml/2006/main">
            <a:off x="77343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BFD0DB"/>
                </a:solidFill>
                <a:latin typeface="Aptos"/>
                <a:ea typeface="Aptos"/>
                <a:cs typeface="Aptos"/>
              </a:defRPr>
            </a:pPr>
            <a:r>
              <a:rPr sz="1275" b="0">
                <a:solidFill>
                  <a:srgbClr val="BFD0DB"/>
                </a:solidFill>
                <a:latin typeface="Aptos"/>
                <a:ea typeface="Aptos"/>
                <a:cs typeface="Aptos"/>
              </a:rPr>
              <a:t>Feasibility</a:t>
            </a:r>
          </a:p>
        </p:txBody>
      </p:sp>
      <p:sp>
        <p:nvSpPr>
          <p:cNvPr id="16" name="">
            <a:extLst xmlns:a="http://schemas.openxmlformats.org/drawingml/2006/main">
              <a:ext uri="{FF2B5EF4-FFF2-40B4-BE49-F238E27FC236}">
                <a16:creationId xmlns:a16="http://schemas.microsoft.com/office/drawing/2014/main" id="{7F3A3042-DD39-4A68-81E6-3C3815A0C49C}"/>
              </a:ext>
            </a:extLst>
          </p:cNvPr>
          <p:cNvSpPr>
            <a:spLocks xmlns:a="http://schemas.openxmlformats.org/drawingml/2006/main" noGrp="1"/>
          </p:cNvSpPr>
          <p:nvPr/>
        </p:nvSpPr>
        <p:spPr>
          <a:xfrm xmlns:a="http://schemas.openxmlformats.org/drawingml/2006/main">
            <a:off x="77343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Upper CI 4.893</a:t>
            </a:r>
          </a:p>
        </p:txBody>
      </p:sp>
      <p:sp>
        <p:nvSpPr>
          <p:cNvPr id="17" name="">
            <a:extLst xmlns:a="http://schemas.openxmlformats.org/drawingml/2006/main">
              <a:ext uri="{FF2B5EF4-FFF2-40B4-BE49-F238E27FC236}">
                <a16:creationId xmlns:a16="http://schemas.microsoft.com/office/drawing/2014/main" id="{3E5FE7E3-162A-40A9-B970-29F7B8D659D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8" name="source-footer">
            <a:extLst xmlns:a="http://schemas.openxmlformats.org/drawingml/2006/main">
              <a:ext uri="{FF2B5EF4-FFF2-40B4-BE49-F238E27FC236}">
                <a16:creationId xmlns:a16="http://schemas.microsoft.com/office/drawing/2014/main" id="{C487868C-11E0-46EF-AEBA-C6566BA355BD}"/>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Q3 model logic and 250-replication output; report Sections 3.3 and 4.2.</a:t>
            </a:r>
          </a:p>
        </p:txBody>
      </p:sp>
      <p:sp>
        <p:nvSpPr>
          <p:cNvPr id="19" name="slide-number">
            <a:extLst xmlns:a="http://schemas.openxmlformats.org/drawingml/2006/main">
              <a:ext uri="{FF2B5EF4-FFF2-40B4-BE49-F238E27FC236}">
                <a16:creationId xmlns:a16="http://schemas.microsoft.com/office/drawing/2014/main" id="{FBE04D63-4471-46B9-AC29-D475047B6EEA}"/>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06</a:t>
            </a:r>
          </a:p>
        </p:txBody>
      </p:sp>
    </p:spTree>
    <p:extLst>
      <p:ext uri="{BB962C8B-B14F-4D97-AF65-F5344CB8AC3E}">
        <p14:creationId xmlns:p14="http://schemas.microsoft.com/office/powerpoint/2010/main" val="439031463"/>
      </p:ext>
    </p:extLst>
  </p:cSld>
</p:sld>
</file>

<file path=ppt/slides/slide7.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5B2DAF16-B2BF-4AB4-A1E1-D1723B234F4C}"/>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Q4 preserves utilisation but creates little urgent capacity</a:t>
            </a:r>
          </a:p>
        </p:txBody>
      </p:sp>
      <p:sp>
        <p:nvSpPr>
          <p:cNvPr id="2" name="">
            <a:extLst xmlns:a="http://schemas.openxmlformats.org/drawingml/2006/main">
              <a:ext uri="{FF2B5EF4-FFF2-40B4-BE49-F238E27FC236}">
                <a16:creationId xmlns:a16="http://schemas.microsoft.com/office/drawing/2014/main" id="{A56D977B-2075-4D80-98AA-CE1D4E454C1A}"/>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464B8D-8B6C-4D88-8674-D85B1DE65980}"/>
              </a:ext>
            </a:extLst>
          </p:cNvPr>
          <p:cNvSpPr>
            <a:spLocks xmlns:a="http://schemas.openxmlformats.org/drawingml/2006/main" noGrp="1"/>
          </p:cNvSpPr>
          <p:nvPr/>
        </p:nvSpPr>
        <p:spPr>
          <a:xfrm xmlns:a="http://schemas.openxmlformats.org/drawingml/2006/main">
            <a:off x="8020050" y="8858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275" b="1">
                <a:solidFill>
                  <a:srgbClr val="007F82"/>
                </a:solidFill>
                <a:latin typeface="Aptos"/>
                <a:ea typeface="Aptos"/>
                <a:cs typeface="Aptos"/>
              </a:defRPr>
            </a:pPr>
            <a:r>
              <a:rPr sz="1275" b="1">
                <a:solidFill>
                  <a:srgbClr val="007F82"/>
                </a:solidFill>
                <a:latin typeface="Aptos"/>
                <a:ea typeface="Aptos"/>
                <a:cs typeface="Aptos"/>
              </a:rPr>
              <a:t>η = 0.2   |   L = 0   |   H = 3</a:t>
            </a:r>
          </a:p>
        </p:txBody>
      </p:sp>
      <p:sp>
        <p:nvSpPr>
          <p:cNvPr id="4" name="q4-step-1">
            <a:extLst xmlns:a="http://schemas.openxmlformats.org/drawingml/2006/main">
              <a:ext uri="{FF2B5EF4-FFF2-40B4-BE49-F238E27FC236}">
                <a16:creationId xmlns:a16="http://schemas.microsoft.com/office/drawing/2014/main" id="{06AAE7EA-A862-4277-B415-DE91BEBD35FC}"/>
              </a:ext>
            </a:extLst>
          </p:cNvPr>
          <p:cNvSpPr>
            <a:spLocks xmlns:a="http://schemas.openxmlformats.org/drawingml/2006/main" noGrp="1"/>
          </p:cNvSpPr>
          <p:nvPr/>
        </p:nvSpPr>
        <p:spPr>
          <a:xfrm xmlns:a="http://schemas.openxmlformats.org/drawingml/2006/main">
            <a:off x="857250" y="1714500"/>
            <a:ext cx="24765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DD7DC"/>
            </a:solidFill>
            <a:prstDash val="solid"/>
          </a:ln>
        </p:spPr>
      </p:sp>
      <p:sp>
        <p:nvSpPr>
          <p:cNvPr id="5" name="q4-step-2">
            <a:extLst xmlns:a="http://schemas.openxmlformats.org/drawingml/2006/main">
              <a:ext uri="{FF2B5EF4-FFF2-40B4-BE49-F238E27FC236}">
                <a16:creationId xmlns:a16="http://schemas.microsoft.com/office/drawing/2014/main" id="{E223E0F9-1C7C-482B-BA98-01474470A14F}"/>
              </a:ext>
            </a:extLst>
          </p:cNvPr>
          <p:cNvSpPr>
            <a:spLocks xmlns:a="http://schemas.openxmlformats.org/drawingml/2006/main" noGrp="1"/>
          </p:cNvSpPr>
          <p:nvPr/>
        </p:nvSpPr>
        <p:spPr>
          <a:xfrm xmlns:a="http://schemas.openxmlformats.org/drawingml/2006/main">
            <a:off x="3857625" y="1714500"/>
            <a:ext cx="24765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DD7DC"/>
            </a:solidFill>
            <a:prstDash val="solid"/>
          </a:ln>
        </p:spPr>
      </p:sp>
      <p:sp>
        <p:nvSpPr>
          <p:cNvPr id="6" name="q4-step-3">
            <a:extLst xmlns:a="http://schemas.openxmlformats.org/drawingml/2006/main">
              <a:ext uri="{FF2B5EF4-FFF2-40B4-BE49-F238E27FC236}">
                <a16:creationId xmlns:a16="http://schemas.microsoft.com/office/drawing/2014/main" id="{966EB7C5-DA18-4337-B29B-F6025DD69620}"/>
              </a:ext>
            </a:extLst>
          </p:cNvPr>
          <p:cNvSpPr>
            <a:spLocks xmlns:a="http://schemas.openxmlformats.org/drawingml/2006/main" noGrp="1"/>
          </p:cNvSpPr>
          <p:nvPr/>
        </p:nvSpPr>
        <p:spPr>
          <a:xfrm xmlns:a="http://schemas.openxmlformats.org/drawingml/2006/main">
            <a:off x="6858000" y="1714500"/>
            <a:ext cx="2476500" cy="1428750"/>
          </a:xfrm>
          <a:prstGeom xmlns:a="http://schemas.openxmlformats.org/drawingml/2006/main" prst="roundRect">
            <a:avLst>
              <a:gd name="adj" fmla="val 13333"/>
            </a:avLst>
          </a:prstGeom>
          <a:solidFill xmlns:a="http://schemas.openxmlformats.org/drawingml/2006/main">
            <a:srgbClr val="DCEEEF"/>
          </a:solidFill>
          <a:ln xmlns:a="http://schemas.openxmlformats.org/drawingml/2006/main" w="19050">
            <a:solidFill>
              <a:srgbClr val="007F82"/>
            </a:solidFill>
            <a:prstDash val="solid"/>
          </a:ln>
        </p:spPr>
      </p:sp>
      <p:cxnSp>
        <p:nvCxnSpPr>
          <p:cNvPr id="36" name=""/>
          <p:cNvCxnSpPr>
            <a:stCxn xmlns:a="http://schemas.openxmlformats.org/drawingml/2006/main" id="4" idx="3"/>
            <a:endCxn xmlns:a="http://schemas.openxmlformats.org/drawingml/2006/main" id="5" idx="1"/>
          </p:cNvCxnSpPr>
          <p:nvPr/>
        </p:nvCxnSpPr>
        <p:spPr>
          <a:xfrm xmlns:a="http://schemas.openxmlformats.org/drawingml/2006/main">
            <a:off x="3333750" y="2428875"/>
            <a:ext cx="5238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37" name=""/>
          <p:cNvCxnSpPr>
            <a:stCxn xmlns:a="http://schemas.openxmlformats.org/drawingml/2006/main" id="5" idx="3"/>
            <a:endCxn xmlns:a="http://schemas.openxmlformats.org/drawingml/2006/main" id="6" idx="1"/>
          </p:cNvCxnSpPr>
          <p:nvPr/>
        </p:nvCxnSpPr>
        <p:spPr>
          <a:xfrm xmlns:a="http://schemas.openxmlformats.org/drawingml/2006/main">
            <a:off x="6334125" y="2428875"/>
            <a:ext cx="5238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sp>
        <p:nvSpPr>
          <p:cNvPr id="9" name="">
            <a:extLst xmlns:a="http://schemas.openxmlformats.org/drawingml/2006/main">
              <a:ext uri="{FF2B5EF4-FFF2-40B4-BE49-F238E27FC236}">
                <a16:creationId xmlns:a16="http://schemas.microsoft.com/office/drawing/2014/main" id="{222B683A-9388-4ADB-B25C-3ECBF02F3188}"/>
              </a:ext>
            </a:extLst>
          </p:cNvPr>
          <p:cNvSpPr>
            <a:spLocks xmlns:a="http://schemas.openxmlformats.org/drawingml/2006/main" noGrp="1"/>
          </p:cNvSpPr>
          <p:nvPr/>
        </p:nvSpPr>
        <p:spPr>
          <a:xfrm xmlns:a="http://schemas.openxmlformats.org/drawingml/2006/main">
            <a:off x="1028700"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B2B3CEA4-A671-46F6-9725-894DC7D88E2B}"/>
              </a:ext>
            </a:extLst>
          </p:cNvPr>
          <p:cNvSpPr>
            <a:spLocks xmlns:a="http://schemas.openxmlformats.org/drawingml/2006/main" noGrp="1"/>
          </p:cNvSpPr>
          <p:nvPr/>
        </p:nvSpPr>
        <p:spPr>
          <a:xfrm xmlns:a="http://schemas.openxmlformats.org/drawingml/2006/main">
            <a:off x="1543050"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324D"/>
                </a:solidFill>
                <a:latin typeface="Aptos"/>
                <a:ea typeface="Aptos"/>
                <a:cs typeface="Aptos"/>
              </a:defRPr>
            </a:pPr>
            <a:r>
              <a:rPr sz="1875" b="1">
                <a:solidFill>
                  <a:srgbClr val="17324D"/>
                </a:solidFill>
                <a:latin typeface="Aptos"/>
                <a:ea typeface="Aptos"/>
                <a:cs typeface="Aptos"/>
              </a:rPr>
              <a:t>Hold</a:t>
            </a:r>
          </a:p>
        </p:txBody>
      </p:sp>
      <p:sp>
        <p:nvSpPr>
          <p:cNvPr id="11" name="">
            <a:extLst xmlns:a="http://schemas.openxmlformats.org/drawingml/2006/main">
              <a:ext uri="{FF2B5EF4-FFF2-40B4-BE49-F238E27FC236}">
                <a16:creationId xmlns:a16="http://schemas.microsoft.com/office/drawing/2014/main" id="{550F59B8-59AF-445C-B46D-D398ACD0EB23}"/>
              </a:ext>
            </a:extLst>
          </p:cNvPr>
          <p:cNvSpPr>
            <a:spLocks xmlns:a="http://schemas.openxmlformats.org/drawingml/2006/main" noGrp="1"/>
          </p:cNvSpPr>
          <p:nvPr/>
        </p:nvSpPr>
        <p:spPr>
          <a:xfrm xmlns:a="http://schemas.openxmlformats.org/drawingml/2006/main">
            <a:off x="1028700"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Protect H = 3 near-term positions</a:t>
            </a:r>
          </a:p>
        </p:txBody>
      </p:sp>
      <p:sp>
        <p:nvSpPr>
          <p:cNvPr id="12" name="">
            <a:extLst xmlns:a="http://schemas.openxmlformats.org/drawingml/2006/main">
              <a:ext uri="{FF2B5EF4-FFF2-40B4-BE49-F238E27FC236}">
                <a16:creationId xmlns:a16="http://schemas.microsoft.com/office/drawing/2014/main" id="{7A19CEC3-1457-4D1F-9D2E-9A44DC4C41AC}"/>
              </a:ext>
            </a:extLst>
          </p:cNvPr>
          <p:cNvSpPr>
            <a:spLocks xmlns:a="http://schemas.openxmlformats.org/drawingml/2006/main" noGrp="1"/>
          </p:cNvSpPr>
          <p:nvPr/>
        </p:nvSpPr>
        <p:spPr>
          <a:xfrm xmlns:a="http://schemas.openxmlformats.org/drawingml/2006/main">
            <a:off x="4029075"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5EB00B45-5190-4B75-B21E-85F37E0F6377}"/>
              </a:ext>
            </a:extLst>
          </p:cNvPr>
          <p:cNvSpPr>
            <a:spLocks xmlns:a="http://schemas.openxmlformats.org/drawingml/2006/main" noGrp="1"/>
          </p:cNvSpPr>
          <p:nvPr/>
        </p:nvSpPr>
        <p:spPr>
          <a:xfrm xmlns:a="http://schemas.openxmlformats.org/drawingml/2006/main">
            <a:off x="4543425"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324D"/>
                </a:solidFill>
                <a:latin typeface="Aptos"/>
                <a:ea typeface="Aptos"/>
                <a:cs typeface="Aptos"/>
              </a:defRPr>
            </a:pPr>
            <a:r>
              <a:rPr sz="1875" b="1">
                <a:solidFill>
                  <a:srgbClr val="17324D"/>
                </a:solidFill>
                <a:latin typeface="Aptos"/>
                <a:ea typeface="Aptos"/>
                <a:cs typeface="Aptos"/>
              </a:rPr>
              <a:t>Release</a:t>
            </a:r>
          </a:p>
        </p:txBody>
      </p:sp>
      <p:sp>
        <p:nvSpPr>
          <p:cNvPr id="14" name="">
            <a:extLst xmlns:a="http://schemas.openxmlformats.org/drawingml/2006/main">
              <a:ext uri="{FF2B5EF4-FFF2-40B4-BE49-F238E27FC236}">
                <a16:creationId xmlns:a16="http://schemas.microsoft.com/office/drawing/2014/main" id="{0230F9F7-6AEC-4DCE-BB57-F604E1EAEAE8}"/>
              </a:ext>
            </a:extLst>
          </p:cNvPr>
          <p:cNvSpPr>
            <a:spLocks xmlns:a="http://schemas.openxmlformats.org/drawingml/2006/main" noGrp="1"/>
          </p:cNvSpPr>
          <p:nvPr/>
        </p:nvSpPr>
        <p:spPr>
          <a:xfrm xmlns:a="http://schemas.openxmlformats.org/drawingml/2006/main">
            <a:off x="4029075"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Scan unused slots at day end</a:t>
            </a:r>
          </a:p>
        </p:txBody>
      </p:sp>
      <p:sp>
        <p:nvSpPr>
          <p:cNvPr id="15" name="">
            <a:extLst xmlns:a="http://schemas.openxmlformats.org/drawingml/2006/main">
              <a:ext uri="{FF2B5EF4-FFF2-40B4-BE49-F238E27FC236}">
                <a16:creationId xmlns:a16="http://schemas.microsoft.com/office/drawing/2014/main" id="{D6072D2A-0030-41AA-8EE3-5A312202D0DB}"/>
              </a:ext>
            </a:extLst>
          </p:cNvPr>
          <p:cNvSpPr>
            <a:spLocks xmlns:a="http://schemas.openxmlformats.org/drawingml/2006/main" noGrp="1"/>
          </p:cNvSpPr>
          <p:nvPr/>
        </p:nvSpPr>
        <p:spPr>
          <a:xfrm xmlns:a="http://schemas.openxmlformats.org/drawingml/2006/main">
            <a:off x="7029450"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1385BDC3-2A1A-41A7-A117-C3D566FB024F}"/>
              </a:ext>
            </a:extLst>
          </p:cNvPr>
          <p:cNvSpPr>
            <a:spLocks xmlns:a="http://schemas.openxmlformats.org/drawingml/2006/main" noGrp="1"/>
          </p:cNvSpPr>
          <p:nvPr/>
        </p:nvSpPr>
        <p:spPr>
          <a:xfrm xmlns:a="http://schemas.openxmlformats.org/drawingml/2006/main">
            <a:off x="7543800"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324D"/>
                </a:solidFill>
                <a:latin typeface="Aptos"/>
                <a:ea typeface="Aptos"/>
                <a:cs typeface="Aptos"/>
              </a:defRPr>
            </a:pPr>
            <a:r>
              <a:rPr sz="1875" b="1">
                <a:solidFill>
                  <a:srgbClr val="17324D"/>
                </a:solidFill>
                <a:latin typeface="Aptos"/>
                <a:ea typeface="Aptos"/>
                <a:cs typeface="Aptos"/>
              </a:rPr>
              <a:t>Rebook</a:t>
            </a:r>
          </a:p>
        </p:txBody>
      </p:sp>
      <p:sp>
        <p:nvSpPr>
          <p:cNvPr id="17" name="">
            <a:extLst xmlns:a="http://schemas.openxmlformats.org/drawingml/2006/main">
              <a:ext uri="{FF2B5EF4-FFF2-40B4-BE49-F238E27FC236}">
                <a16:creationId xmlns:a16="http://schemas.microsoft.com/office/drawing/2014/main" id="{9B4A155D-BE05-497C-AFC9-2F3ED906D79B}"/>
              </a:ext>
            </a:extLst>
          </p:cNvPr>
          <p:cNvSpPr>
            <a:spLocks xmlns:a="http://schemas.openxmlformats.org/drawingml/2006/main" noGrp="1"/>
          </p:cNvSpPr>
          <p:nvPr/>
        </p:nvSpPr>
        <p:spPr>
          <a:xfrm xmlns:a="http://schemas.openxmlformats.org/drawingml/2006/main">
            <a:off x="7029450"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687783"/>
                </a:solidFill>
                <a:latin typeface="Aptos"/>
                <a:ea typeface="Aptos"/>
                <a:cs typeface="Aptos"/>
              </a:defRPr>
            </a:pPr>
            <a:r>
              <a:rPr sz="1275" b="0">
                <a:solidFill>
                  <a:srgbClr val="687783"/>
                </a:solidFill>
                <a:latin typeface="Aptos"/>
                <a:ea typeface="Aptos"/>
                <a:cs typeface="Aptos"/>
              </a:rPr>
              <a:t>Bring forward oldest eligible OCR patient</a:t>
            </a:r>
          </a:p>
        </p:txBody>
      </p:sp>
      <p:sp>
        <p:nvSpPr>
          <p:cNvPr id="18" name="">
            <a:extLst xmlns:a="http://schemas.openxmlformats.org/drawingml/2006/main">
              <a:ext uri="{FF2B5EF4-FFF2-40B4-BE49-F238E27FC236}">
                <a16:creationId xmlns:a16="http://schemas.microsoft.com/office/drawing/2014/main" id="{8A0F6455-15A7-420A-AADA-6026A264F116}"/>
              </a:ext>
            </a:extLst>
          </p:cNvPr>
          <p:cNvSpPr>
            <a:spLocks xmlns:a="http://schemas.openxmlformats.org/drawingml/2006/main" noGrp="1"/>
          </p:cNvSpPr>
          <p:nvPr/>
        </p:nvSpPr>
        <p:spPr>
          <a:xfrm xmlns:a="http://schemas.openxmlformats.org/drawingml/2006/main">
            <a:off x="72390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007F82"/>
                </a:solidFill>
                <a:latin typeface="Aptos Display"/>
                <a:ea typeface="Aptos Display"/>
                <a:cs typeface="Aptos Display"/>
              </a:defRPr>
            </a:pPr>
            <a:r>
              <a:rPr sz="2850" b="1">
                <a:solidFill>
                  <a:srgbClr val="007F82"/>
                </a:solidFill>
                <a:latin typeface="Aptos Display"/>
                <a:ea typeface="Aptos Display"/>
                <a:cs typeface="Aptos Display"/>
              </a:rPr>
              <a:t>4.009</a:t>
            </a:r>
          </a:p>
        </p:txBody>
      </p:sp>
      <p:sp>
        <p:nvSpPr>
          <p:cNvPr id="19" name="">
            <a:extLst xmlns:a="http://schemas.openxmlformats.org/drawingml/2006/main">
              <a:ext uri="{FF2B5EF4-FFF2-40B4-BE49-F238E27FC236}">
                <a16:creationId xmlns:a16="http://schemas.microsoft.com/office/drawing/2014/main" id="{6354138D-EF58-44C2-A4D6-637D8D3771F7}"/>
              </a:ext>
            </a:extLst>
          </p:cNvPr>
          <p:cNvSpPr>
            <a:spLocks xmlns:a="http://schemas.openxmlformats.org/drawingml/2006/main" noGrp="1"/>
          </p:cNvSpPr>
          <p:nvPr/>
        </p:nvSpPr>
        <p:spPr>
          <a:xfrm xmlns:a="http://schemas.openxmlformats.org/drawingml/2006/main">
            <a:off x="72390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urgent mean</a:t>
            </a:r>
          </a:p>
        </p:txBody>
      </p:sp>
      <p:sp>
        <p:nvSpPr>
          <p:cNvPr id="20" name="">
            <a:extLst xmlns:a="http://schemas.openxmlformats.org/drawingml/2006/main">
              <a:ext uri="{FF2B5EF4-FFF2-40B4-BE49-F238E27FC236}">
                <a16:creationId xmlns:a16="http://schemas.microsoft.com/office/drawing/2014/main" id="{8C5AD04B-2231-42A3-B99D-DB8ECEA1AEB7}"/>
              </a:ext>
            </a:extLst>
          </p:cNvPr>
          <p:cNvSpPr>
            <a:spLocks xmlns:a="http://schemas.openxmlformats.org/drawingml/2006/main" noGrp="1"/>
          </p:cNvSpPr>
          <p:nvPr/>
        </p:nvSpPr>
        <p:spPr>
          <a:xfrm xmlns:a="http://schemas.openxmlformats.org/drawingml/2006/main">
            <a:off x="344805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4.574</a:t>
            </a:r>
          </a:p>
        </p:txBody>
      </p:sp>
      <p:sp>
        <p:nvSpPr>
          <p:cNvPr id="21" name="">
            <a:extLst xmlns:a="http://schemas.openxmlformats.org/drawingml/2006/main">
              <a:ext uri="{FF2B5EF4-FFF2-40B4-BE49-F238E27FC236}">
                <a16:creationId xmlns:a16="http://schemas.microsoft.com/office/drawing/2014/main" id="{ACA69423-8CDC-4B82-908B-9B507F3692D4}"/>
              </a:ext>
            </a:extLst>
          </p:cNvPr>
          <p:cNvSpPr>
            <a:spLocks xmlns:a="http://schemas.openxmlformats.org/drawingml/2006/main" noGrp="1"/>
          </p:cNvSpPr>
          <p:nvPr/>
        </p:nvSpPr>
        <p:spPr>
          <a:xfrm xmlns:a="http://schemas.openxmlformats.org/drawingml/2006/main">
            <a:off x="344805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routine mean</a:t>
            </a:r>
          </a:p>
        </p:txBody>
      </p:sp>
      <p:sp>
        <p:nvSpPr>
          <p:cNvPr id="22" name="">
            <a:extLst xmlns:a="http://schemas.openxmlformats.org/drawingml/2006/main">
              <a:ext uri="{FF2B5EF4-FFF2-40B4-BE49-F238E27FC236}">
                <a16:creationId xmlns:a16="http://schemas.microsoft.com/office/drawing/2014/main" id="{5BE14785-F4EB-4F3E-A07D-D5A77F1924EA}"/>
              </a:ext>
            </a:extLst>
          </p:cNvPr>
          <p:cNvSpPr>
            <a:spLocks xmlns:a="http://schemas.openxmlformats.org/drawingml/2006/main" noGrp="1"/>
          </p:cNvSpPr>
          <p:nvPr/>
        </p:nvSpPr>
        <p:spPr>
          <a:xfrm xmlns:a="http://schemas.openxmlformats.org/drawingml/2006/main">
            <a:off x="617220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4.219</a:t>
            </a:r>
          </a:p>
        </p:txBody>
      </p:sp>
      <p:sp>
        <p:nvSpPr>
          <p:cNvPr id="23" name="">
            <a:extLst xmlns:a="http://schemas.openxmlformats.org/drawingml/2006/main">
              <a:ext uri="{FF2B5EF4-FFF2-40B4-BE49-F238E27FC236}">
                <a16:creationId xmlns:a16="http://schemas.microsoft.com/office/drawing/2014/main" id="{3A3B48F1-6A74-4BA6-AF57-C29C6A13CD03}"/>
              </a:ext>
            </a:extLst>
          </p:cNvPr>
          <p:cNvSpPr>
            <a:spLocks xmlns:a="http://schemas.openxmlformats.org/drawingml/2006/main" noGrp="1"/>
          </p:cNvSpPr>
          <p:nvPr/>
        </p:nvSpPr>
        <p:spPr>
          <a:xfrm xmlns:a="http://schemas.openxmlformats.org/drawingml/2006/main">
            <a:off x="617220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overall mean</a:t>
            </a:r>
          </a:p>
        </p:txBody>
      </p:sp>
      <p:sp>
        <p:nvSpPr>
          <p:cNvPr id="24" name="">
            <a:extLst xmlns:a="http://schemas.openxmlformats.org/drawingml/2006/main">
              <a:ext uri="{FF2B5EF4-FFF2-40B4-BE49-F238E27FC236}">
                <a16:creationId xmlns:a16="http://schemas.microsoft.com/office/drawing/2014/main" id="{8DDE42B6-47B7-4416-84FB-3B2106A57380}"/>
              </a:ext>
            </a:extLst>
          </p:cNvPr>
          <p:cNvSpPr>
            <a:spLocks xmlns:a="http://schemas.openxmlformats.org/drawingml/2006/main" noGrp="1"/>
          </p:cNvSpPr>
          <p:nvPr/>
        </p:nvSpPr>
        <p:spPr>
          <a:xfrm xmlns:a="http://schemas.openxmlformats.org/drawingml/2006/main">
            <a:off x="889635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97.911%</a:t>
            </a:r>
          </a:p>
        </p:txBody>
      </p:sp>
      <p:sp>
        <p:nvSpPr>
          <p:cNvPr id="25" name="">
            <a:extLst xmlns:a="http://schemas.openxmlformats.org/drawingml/2006/main">
              <a:ext uri="{FF2B5EF4-FFF2-40B4-BE49-F238E27FC236}">
                <a16:creationId xmlns:a16="http://schemas.microsoft.com/office/drawing/2014/main" id="{9D4DCDC0-EB41-4FA8-B0A5-0184EF6F8367}"/>
              </a:ext>
            </a:extLst>
          </p:cNvPr>
          <p:cNvSpPr>
            <a:spLocks xmlns:a="http://schemas.openxmlformats.org/drawingml/2006/main" noGrp="1"/>
          </p:cNvSpPr>
          <p:nvPr/>
        </p:nvSpPr>
        <p:spPr>
          <a:xfrm xmlns:a="http://schemas.openxmlformats.org/drawingml/2006/main">
            <a:off x="889635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687783"/>
                </a:solidFill>
                <a:latin typeface="Aptos"/>
                <a:ea typeface="Aptos"/>
                <a:cs typeface="Aptos"/>
              </a:defRPr>
            </a:pPr>
            <a:r>
              <a:rPr sz="1275" b="1">
                <a:solidFill>
                  <a:srgbClr val="687783"/>
                </a:solidFill>
                <a:latin typeface="Aptos"/>
                <a:ea typeface="Aptos"/>
                <a:cs typeface="Aptos"/>
              </a:rPr>
              <a:t>slot utilisation</a:t>
            </a:r>
          </a:p>
        </p:txBody>
      </p:sp>
      <p:sp>
        <p:nvSpPr>
          <p:cNvPr id="26" name="">
            <a:extLst xmlns:a="http://schemas.openxmlformats.org/drawingml/2006/main">
              <a:ext uri="{FF2B5EF4-FFF2-40B4-BE49-F238E27FC236}">
                <a16:creationId xmlns:a16="http://schemas.microsoft.com/office/drawing/2014/main" id="{9E6CFFA9-19F2-46F8-9627-43A85145EEE4}"/>
              </a:ext>
            </a:extLst>
          </p:cNvPr>
          <p:cNvSpPr>
            <a:spLocks xmlns:a="http://schemas.openxmlformats.org/drawingml/2006/main" noGrp="1"/>
          </p:cNvSpPr>
          <p:nvPr/>
        </p:nvSpPr>
        <p:spPr>
          <a:xfrm xmlns:a="http://schemas.openxmlformats.org/drawingml/2006/main">
            <a:off x="2247900" y="5219700"/>
            <a:ext cx="7696200" cy="51435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0.515 days saved per rebooked OCR patient</a:t>
            </a:r>
          </a:p>
        </p:txBody>
      </p:sp>
      <p:sp>
        <p:nvSpPr>
          <p:cNvPr id="27" name="">
            <a:extLst xmlns:a="http://schemas.openxmlformats.org/drawingml/2006/main">
              <a:ext uri="{FF2B5EF4-FFF2-40B4-BE49-F238E27FC236}">
                <a16:creationId xmlns:a16="http://schemas.microsoft.com/office/drawing/2014/main" id="{CE1CDD72-2547-436F-BC87-66717E4CAE82}"/>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28" name="source-footer">
            <a:extLst xmlns:a="http://schemas.openxmlformats.org/drawingml/2006/main">
              <a:ext uri="{FF2B5EF4-FFF2-40B4-BE49-F238E27FC236}">
                <a16:creationId xmlns:a16="http://schemas.microsoft.com/office/drawing/2014/main" id="{8AE2BB2E-B084-4E9F-A464-AA8026BB5930}"/>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Q4 model logic and direct 250-replication output; report Sections 3.4 and 4.3.</a:t>
            </a:r>
          </a:p>
        </p:txBody>
      </p:sp>
      <p:sp>
        <p:nvSpPr>
          <p:cNvPr id="29" name="slide-number">
            <a:extLst xmlns:a="http://schemas.openxmlformats.org/drawingml/2006/main">
              <a:ext uri="{FF2B5EF4-FFF2-40B4-BE49-F238E27FC236}">
                <a16:creationId xmlns:a16="http://schemas.microsoft.com/office/drawing/2014/main" id="{974D3BC6-E394-49D6-BEAB-70D0ED797C3E}"/>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07</a:t>
            </a:r>
          </a:p>
        </p:txBody>
      </p:sp>
    </p:spTree>
    <p:extLst>
      <p:ext uri="{BB962C8B-B14F-4D97-AF65-F5344CB8AC3E}">
        <p14:creationId xmlns:p14="http://schemas.microsoft.com/office/powerpoint/2010/main" val="11355662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1452B853-E565-4ED4-A8C0-F06B41B85B82}"/>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Recommend Q3, with a routine service-level guardrail</a:t>
            </a:r>
          </a:p>
        </p:txBody>
      </p:sp>
      <p:sp>
        <p:nvSpPr>
          <p:cNvPr id="2" name="">
            <a:extLst xmlns:a="http://schemas.openxmlformats.org/drawingml/2006/main">
              <a:ext uri="{FF2B5EF4-FFF2-40B4-BE49-F238E27FC236}">
                <a16:creationId xmlns:a16="http://schemas.microsoft.com/office/drawing/2014/main" id="{A9AE38A4-1C1C-4F37-ABED-7A9652216A20}"/>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82F379-7819-44E1-8DCE-13CD2E7621BA}"/>
              </a:ext>
            </a:extLst>
          </p:cNvPr>
          <p:cNvSpPr>
            <a:spLocks xmlns:a="http://schemas.openxmlformats.org/drawingml/2006/main" noGrp="1"/>
          </p:cNvSpPr>
          <p:nvPr/>
        </p:nvSpPr>
        <p:spPr>
          <a:xfrm xmlns:a="http://schemas.openxmlformats.org/drawingml/2006/main">
            <a:off x="723900" y="1619250"/>
            <a:ext cx="6838950" cy="1676400"/>
          </a:xfrm>
          <a:prstGeom xmlns:a="http://schemas.openxmlformats.org/drawingml/2006/main" prst="roundRect">
            <a:avLst>
              <a:gd name="adj" fmla="val 13636"/>
            </a:avLst>
          </a:prstGeom>
          <a:solidFill xmlns:a="http://schemas.openxmlformats.org/drawingml/2006/main">
            <a:srgbClr val="17324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E6E185-1E13-439D-BE7C-5875C7BDF977}"/>
              </a:ext>
            </a:extLst>
          </p:cNvPr>
          <p:cNvSpPr>
            <a:spLocks xmlns:a="http://schemas.openxmlformats.org/drawingml/2006/main" noGrp="1"/>
          </p:cNvSpPr>
          <p:nvPr/>
        </p:nvSpPr>
        <p:spPr>
          <a:xfrm xmlns:a="http://schemas.openxmlformats.org/drawingml/2006/main">
            <a:off x="1066800" y="19431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Choose Q3</a:t>
            </a:r>
          </a:p>
        </p:txBody>
      </p:sp>
      <p:sp>
        <p:nvSpPr>
          <p:cNvPr id="5" name="">
            <a:extLst xmlns:a="http://schemas.openxmlformats.org/drawingml/2006/main">
              <a:ext uri="{FF2B5EF4-FFF2-40B4-BE49-F238E27FC236}">
                <a16:creationId xmlns:a16="http://schemas.microsoft.com/office/drawing/2014/main" id="{3FBE317C-6713-472D-8479-2420B2EC9A3A}"/>
              </a:ext>
            </a:extLst>
          </p:cNvPr>
          <p:cNvSpPr>
            <a:spLocks xmlns:a="http://schemas.openxmlformats.org/drawingml/2006/main" noGrp="1"/>
          </p:cNvSpPr>
          <p:nvPr/>
        </p:nvSpPr>
        <p:spPr>
          <a:xfrm xmlns:a="http://schemas.openxmlformats.org/drawingml/2006/main">
            <a:off x="1066800" y="257175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DCE7ED"/>
                </a:solidFill>
                <a:latin typeface="Aptos"/>
                <a:ea typeface="Aptos"/>
                <a:cs typeface="Aptos"/>
              </a:defRPr>
            </a:pPr>
            <a:r>
              <a:rPr sz="1500" b="0">
                <a:solidFill>
                  <a:srgbClr val="DCE7ED"/>
                </a:solidFill>
                <a:latin typeface="Aptos"/>
                <a:ea typeface="Aptos"/>
                <a:cs typeface="Aptos"/>
              </a:rPr>
              <a:t>Urgent mean 2.123 days</a:t>
            </a:r>
          </a:p>
          <a:p xmlns:a="http://schemas.openxmlformats.org/drawingml/2006/main">
            <a:pPr algn="l">
              <a:defRPr sz="1500" b="0">
                <a:solidFill>
                  <a:srgbClr val="DCE7ED"/>
                </a:solidFill>
                <a:latin typeface="Aptos"/>
                <a:ea typeface="Aptos"/>
                <a:cs typeface="Aptos"/>
              </a:defRPr>
            </a:pPr>
            <a:r>
              <a:rPr sz="1500" b="0">
                <a:solidFill>
                  <a:srgbClr val="DCE7ED"/>
                </a:solidFill>
                <a:latin typeface="Aptos"/>
                <a:ea typeface="Aptos"/>
                <a:cs typeface="Aptos"/>
              </a:rPr>
              <a:t>Overall upper 95% CI 4.893 days</a:t>
            </a:r>
          </a:p>
        </p:txBody>
      </p:sp>
      <p:sp>
        <p:nvSpPr>
          <p:cNvPr id="6" name="">
            <a:extLst xmlns:a="http://schemas.openxmlformats.org/drawingml/2006/main">
              <a:ext uri="{FF2B5EF4-FFF2-40B4-BE49-F238E27FC236}">
                <a16:creationId xmlns:a16="http://schemas.microsoft.com/office/drawing/2014/main" id="{D803C304-9A3A-43A5-88F3-B1AE710D1AC7}"/>
              </a:ext>
            </a:extLst>
          </p:cNvPr>
          <p:cNvSpPr>
            <a:spLocks xmlns:a="http://schemas.openxmlformats.org/drawingml/2006/main" noGrp="1"/>
          </p:cNvSpPr>
          <p:nvPr/>
        </p:nvSpPr>
        <p:spPr>
          <a:xfrm xmlns:a="http://schemas.openxmlformats.org/drawingml/2006/main">
            <a:off x="7962900" y="1619250"/>
            <a:ext cx="3486150" cy="1676400"/>
          </a:xfrm>
          <a:prstGeom xmlns:a="http://schemas.openxmlformats.org/drawingml/2006/main" prst="roundRect">
            <a:avLst>
              <a:gd name="adj" fmla="val 13636"/>
            </a:avLst>
          </a:prstGeom>
          <a:solidFill xmlns:a="http://schemas.openxmlformats.org/drawingml/2006/main">
            <a:srgbClr val="FFF4D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CA04F91-FE9B-452E-9E3D-EF2A6BF06E12}"/>
              </a:ext>
            </a:extLst>
          </p:cNvPr>
          <p:cNvSpPr>
            <a:spLocks xmlns:a="http://schemas.openxmlformats.org/drawingml/2006/main" noGrp="1"/>
          </p:cNvSpPr>
          <p:nvPr/>
        </p:nvSpPr>
        <p:spPr>
          <a:xfrm xmlns:a="http://schemas.openxmlformats.org/drawingml/2006/main">
            <a:off x="8286750" y="1962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68B00"/>
                </a:solidFill>
                <a:latin typeface="Aptos"/>
                <a:ea typeface="Aptos"/>
                <a:cs typeface="Aptos"/>
              </a:defRPr>
            </a:pPr>
            <a:r>
              <a:rPr sz="1800" b="1">
                <a:solidFill>
                  <a:srgbClr val="D68B00"/>
                </a:solidFill>
                <a:latin typeface="Aptos"/>
                <a:ea typeface="Aptos"/>
                <a:cs typeface="Aptos"/>
              </a:rPr>
              <a:t>Guardrail required</a:t>
            </a:r>
          </a:p>
        </p:txBody>
      </p:sp>
      <p:sp>
        <p:nvSpPr>
          <p:cNvPr id="8" name="">
            <a:extLst xmlns:a="http://schemas.openxmlformats.org/drawingml/2006/main">
              <a:ext uri="{FF2B5EF4-FFF2-40B4-BE49-F238E27FC236}">
                <a16:creationId xmlns:a16="http://schemas.microsoft.com/office/drawing/2014/main" id="{C05F01E5-CC80-4BAE-8981-141E8C843CA9}"/>
              </a:ext>
            </a:extLst>
          </p:cNvPr>
          <p:cNvSpPr>
            <a:spLocks xmlns:a="http://schemas.openxmlformats.org/drawingml/2006/main" noGrp="1"/>
          </p:cNvSpPr>
          <p:nvPr/>
        </p:nvSpPr>
        <p:spPr>
          <a:xfrm xmlns:a="http://schemas.openxmlformats.org/drawingml/2006/main">
            <a:off x="8286750" y="25146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7324D"/>
                </a:solidFill>
                <a:latin typeface="Aptos"/>
                <a:ea typeface="Aptos"/>
                <a:cs typeface="Aptos"/>
              </a:defRPr>
            </a:pPr>
            <a:r>
              <a:rPr sz="1425" b="1">
                <a:solidFill>
                  <a:srgbClr val="17324D"/>
                </a:solidFill>
                <a:latin typeface="Aptos"/>
                <a:ea typeface="Aptos"/>
                <a:cs typeface="Aptos"/>
              </a:rPr>
              <a:t>Routine mean = 9.053 days</a:t>
            </a:r>
          </a:p>
          <a:p xmlns:a="http://schemas.openxmlformats.org/drawingml/2006/main">
            <a:pPr algn="l">
              <a:defRPr sz="1425" b="1">
                <a:solidFill>
                  <a:srgbClr val="17324D"/>
                </a:solidFill>
                <a:latin typeface="Aptos"/>
                <a:ea typeface="Aptos"/>
                <a:cs typeface="Aptos"/>
              </a:defRPr>
            </a:pPr>
            <a:r>
              <a:rPr sz="1425" b="1">
                <a:solidFill>
                  <a:srgbClr val="17324D"/>
                </a:solidFill>
                <a:latin typeface="Aptos"/>
                <a:ea typeface="Aptos"/>
                <a:cs typeface="Aptos"/>
              </a:rPr>
              <a:t>Add a routine service limit.</a:t>
            </a:r>
          </a:p>
        </p:txBody>
      </p:sp>
      <p:sp>
        <p:nvSpPr>
          <p:cNvPr id="9" name="">
            <a:extLst xmlns:a="http://schemas.openxmlformats.org/drawingml/2006/main">
              <a:ext uri="{FF2B5EF4-FFF2-40B4-BE49-F238E27FC236}">
                <a16:creationId xmlns:a16="http://schemas.microsoft.com/office/drawing/2014/main" id="{4F00AC33-7C2A-4153-A9AB-F5BD0C482BCF}"/>
              </a:ext>
            </a:extLst>
          </p:cNvPr>
          <p:cNvSpPr>
            <a:spLocks xmlns:a="http://schemas.openxmlformats.org/drawingml/2006/main" noGrp="1"/>
          </p:cNvSpPr>
          <p:nvPr/>
        </p:nvSpPr>
        <p:spPr>
          <a:xfrm xmlns:a="http://schemas.openxmlformats.org/drawingml/2006/main">
            <a:off x="781050" y="38481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7F82"/>
                </a:solidFill>
                <a:latin typeface="Aptos"/>
                <a:ea typeface="Aptos"/>
                <a:cs typeface="Aptos"/>
              </a:defRPr>
            </a:pPr>
            <a:r>
              <a:rPr sz="1800" b="1">
                <a:solidFill>
                  <a:srgbClr val="007F82"/>
                </a:solidFill>
                <a:latin typeface="Aptos"/>
                <a:ea typeface="Aptos"/>
                <a:cs typeface="Aptos"/>
              </a:rPr>
              <a:t>What the evidence supports</a:t>
            </a:r>
          </a:p>
        </p:txBody>
      </p:sp>
      <p:sp>
        <p:nvSpPr>
          <p:cNvPr id="10" name="">
            <a:extLst xmlns:a="http://schemas.openxmlformats.org/drawingml/2006/main">
              <a:ext uri="{FF2B5EF4-FFF2-40B4-BE49-F238E27FC236}">
                <a16:creationId xmlns:a16="http://schemas.microsoft.com/office/drawing/2014/main" id="{E76797BC-448C-40DC-93D5-FC0E9B70A5B7}"/>
              </a:ext>
            </a:extLst>
          </p:cNvPr>
          <p:cNvSpPr>
            <a:spLocks xmlns:a="http://schemas.openxmlformats.org/drawingml/2006/main" noGrp="1"/>
          </p:cNvSpPr>
          <p:nvPr/>
        </p:nvSpPr>
        <p:spPr>
          <a:xfrm xmlns:a="http://schemas.openxmlformats.org/drawingml/2006/main">
            <a:off x="781050" y="4343400"/>
            <a:ext cx="5334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8222C"/>
                </a:solidFill>
                <a:latin typeface="Aptos"/>
                <a:ea typeface="Aptos"/>
                <a:cs typeface="Aptos"/>
              </a:defRPr>
            </a:pPr>
            <a:r>
              <a:rPr sz="1650" b="0">
                <a:solidFill>
                  <a:srgbClr val="18222C"/>
                </a:solidFill>
                <a:latin typeface="Aptos"/>
                <a:ea typeface="Aptos"/>
                <a:cs typeface="Aptos"/>
              </a:rPr>
              <a:t>Q3 is the best tested policy for the stated objective. It is not a free efficiency gain; it redistributes waiting from urgent to routine patients.</a:t>
            </a:r>
          </a:p>
        </p:txBody>
      </p:sp>
      <p:sp>
        <p:nvSpPr>
          <p:cNvPr id="11" name="">
            <a:extLst xmlns:a="http://schemas.openxmlformats.org/drawingml/2006/main">
              <a:ext uri="{FF2B5EF4-FFF2-40B4-BE49-F238E27FC236}">
                <a16:creationId xmlns:a16="http://schemas.microsoft.com/office/drawing/2014/main" id="{F1B6F811-5B42-454E-9D65-2AD0D24B21D7}"/>
              </a:ext>
            </a:extLst>
          </p:cNvPr>
          <p:cNvSpPr>
            <a:spLocks xmlns:a="http://schemas.openxmlformats.org/drawingml/2006/main" noGrp="1"/>
          </p:cNvSpPr>
          <p:nvPr/>
        </p:nvSpPr>
        <p:spPr>
          <a:xfrm xmlns:a="http://schemas.openxmlformats.org/drawingml/2006/main">
            <a:off x="6705600" y="38481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7F82"/>
                </a:solidFill>
                <a:latin typeface="Aptos"/>
                <a:ea typeface="Aptos"/>
                <a:cs typeface="Aptos"/>
              </a:defRPr>
            </a:pPr>
            <a:r>
              <a:rPr sz="1800" b="1">
                <a:solidFill>
                  <a:srgbClr val="007F82"/>
                </a:solidFill>
                <a:latin typeface="Aptos"/>
                <a:ea typeface="Aptos"/>
                <a:cs typeface="Aptos"/>
              </a:rPr>
              <a:t>Next experiment</a:t>
            </a:r>
          </a:p>
        </p:txBody>
      </p:sp>
      <p:sp>
        <p:nvSpPr>
          <p:cNvPr id="12" name="">
            <a:extLst xmlns:a="http://schemas.openxmlformats.org/drawingml/2006/main">
              <a:ext uri="{FF2B5EF4-FFF2-40B4-BE49-F238E27FC236}">
                <a16:creationId xmlns:a16="http://schemas.microsoft.com/office/drawing/2014/main" id="{E85C2578-FE7B-4985-AA9A-3563DF0A1BEC}"/>
              </a:ext>
            </a:extLst>
          </p:cNvPr>
          <p:cNvSpPr>
            <a:spLocks xmlns:a="http://schemas.openxmlformats.org/drawingml/2006/main" noGrp="1"/>
          </p:cNvSpPr>
          <p:nvPr/>
        </p:nvSpPr>
        <p:spPr>
          <a:xfrm xmlns:a="http://schemas.openxmlformats.org/drawingml/2006/main">
            <a:off x="6705600" y="4343400"/>
            <a:ext cx="4419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8222C"/>
                </a:solidFill>
                <a:latin typeface="Aptos"/>
                <a:ea typeface="Aptos"/>
                <a:cs typeface="Aptos"/>
              </a:defRPr>
            </a:pPr>
            <a:r>
              <a:rPr sz="1650" b="0">
                <a:solidFill>
                  <a:srgbClr val="18222C"/>
                </a:solidFill>
                <a:latin typeface="Aptos"/>
                <a:ea typeface="Aptos"/>
                <a:cs typeface="Aptos"/>
              </a:rPr>
              <a:t>Combine Q3's backlog signal with controlled OCR release, then test a routine service-level constraint.</a:t>
            </a:r>
          </a:p>
        </p:txBody>
      </p:sp>
      <p:sp>
        <p:nvSpPr>
          <p:cNvPr id="13" name="">
            <a:extLst xmlns:a="http://schemas.openxmlformats.org/drawingml/2006/main">
              <a:ext uri="{FF2B5EF4-FFF2-40B4-BE49-F238E27FC236}">
                <a16:creationId xmlns:a16="http://schemas.microsoft.com/office/drawing/2014/main" id="{60DFADBB-6B34-4D5F-AF27-5D62E45511C0}"/>
              </a:ext>
            </a:extLst>
          </p:cNvPr>
          <p:cNvSpPr>
            <a:spLocks xmlns:a="http://schemas.openxmlformats.org/drawingml/2006/main" noGrp="1"/>
          </p:cNvSpPr>
          <p:nvPr/>
        </p:nvSpPr>
        <p:spPr>
          <a:xfrm xmlns:a="http://schemas.openxmlformats.org/drawingml/2006/main">
            <a:off x="781050" y="5848350"/>
            <a:ext cx="1034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87783"/>
                </a:solidFill>
                <a:latin typeface="Aptos"/>
                <a:ea typeface="Aptos"/>
                <a:cs typeface="Aptos"/>
              </a:defRPr>
            </a:pPr>
            <a:r>
              <a:rPr sz="1200" b="0">
                <a:solidFill>
                  <a:srgbClr val="687783"/>
                </a:solidFill>
                <a:latin typeface="Aptos"/>
                <a:ea typeface="Aptos"/>
                <a:cs typeface="Aptos"/>
              </a:rPr>
              <a:t>Limitations: stationary demand, deterministic service, no no-shows or overtime, finite parameter search.</a:t>
            </a:r>
          </a:p>
        </p:txBody>
      </p:sp>
      <p:sp>
        <p:nvSpPr>
          <p:cNvPr id="14" name="">
            <a:extLst xmlns:a="http://schemas.openxmlformats.org/drawingml/2006/main">
              <a:ext uri="{FF2B5EF4-FFF2-40B4-BE49-F238E27FC236}">
                <a16:creationId xmlns:a16="http://schemas.microsoft.com/office/drawing/2014/main" id="{5A36F070-1802-4E03-BAE2-25C997F98D89}"/>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5" name="source-footer">
            <a:extLst xmlns:a="http://schemas.openxmlformats.org/drawingml/2006/main">
              <a:ext uri="{FF2B5EF4-FFF2-40B4-BE49-F238E27FC236}">
                <a16:creationId xmlns:a16="http://schemas.microsoft.com/office/drawing/2014/main" id="{A247A944-BB46-4B08-8E4B-6B37E4924CF3}"/>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Report conclusion and cross-policy comparison.</a:t>
            </a:r>
          </a:p>
        </p:txBody>
      </p:sp>
      <p:sp>
        <p:nvSpPr>
          <p:cNvPr id="16" name="slide-number">
            <a:extLst xmlns:a="http://schemas.openxmlformats.org/drawingml/2006/main">
              <a:ext uri="{FF2B5EF4-FFF2-40B4-BE49-F238E27FC236}">
                <a16:creationId xmlns:a16="http://schemas.microsoft.com/office/drawing/2014/main" id="{8B7C32F8-4983-4C9E-AAFF-58CF4212441E}"/>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08</a:t>
            </a:r>
          </a:p>
        </p:txBody>
      </p:sp>
    </p:spTree>
    <p:extLst>
      <p:ext uri="{BB962C8B-B14F-4D97-AF65-F5344CB8AC3E}">
        <p14:creationId xmlns:p14="http://schemas.microsoft.com/office/powerpoint/2010/main" val="11147008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BB072E6-FF59-4BB2-A1D9-9DFAF71277D4}"/>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Full 95% confidence intervals for selected policies</a:t>
            </a:r>
          </a:p>
        </p:txBody>
      </p:sp>
      <p:sp>
        <p:nvSpPr>
          <p:cNvPr id="2" name="backup-label">
            <a:extLst xmlns:a="http://schemas.openxmlformats.org/drawingml/2006/main">
              <a:ext uri="{FF2B5EF4-FFF2-40B4-BE49-F238E27FC236}">
                <a16:creationId xmlns:a16="http://schemas.microsoft.com/office/drawing/2014/main" id="{7BE2DAA1-9E66-422A-B746-9266284968F4}"/>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8AA0C3BE-B85E-4D51-9A6A-22E08C198AA3}"/>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graphicFrame>
        <p:nvGraphicFramePr>
          <p:cNvPr id="11" name=""/>
          <p:cNvGraphicFramePr/>
          <p:nvPr/>
        </p:nvGraphicFramePr>
        <p:xfrm>
          <a:off xmlns:a="http://schemas.openxmlformats.org/drawingml/2006/main" x="1638300" y="1562100"/>
          <a:ext xmlns:a="http://schemas.openxmlformats.org/drawingml/2006/main" cx="8915400" cy="4229100"/>
        </p:xfrm>
        <a:graphic xmlns:a="http://schemas.openxmlformats.org/drawingml/2006/main">
          <a:graphicData uri="http://schemas.openxmlformats.org/drawingml/2006/table">
            <a:tbl>
              <a:tblPr/>
              <a:tblGrid>
                <a:gridCol w="3429000"/>
                <a:gridCol w="2000250"/>
                <a:gridCol w="3486150"/>
              </a:tblGrid>
              <a:tr h="469900">
                <a:tc>
                  <a:txBody>
                    <a:bodyPr/>
                    <a:lstStyle/>
                    <a:p>
                      <a:r>
                        <a:rPr sz="1275" b="1">
                          <a:solidFill>
                            <a:srgbClr val="FFFFFF"/>
                          </a:solidFill>
                        </a:rPr>
                        <a:t>Metric</a:t>
                      </a:r>
                    </a:p>
                  </a:txBody>
                  <a:tcPr marL="95250" marR="95250" marT="47625" marB="47625" anchor="ctr">
                    <a:solidFill>
                      <a:srgbClr val="17324D"/>
                    </a:solidFill>
                  </a:tcPr>
                </a:tc>
                <a:tc>
                  <a:txBody>
                    <a:bodyPr/>
                    <a:lstStyle/>
                    <a:p>
                      <a:r>
                        <a:rPr sz="1275" b="1">
                          <a:solidFill>
                            <a:srgbClr val="FFFFFF"/>
                          </a:solidFill>
                        </a:rPr>
                        <a:t>Mean</a:t>
                      </a:r>
                    </a:p>
                  </a:txBody>
                  <a:tcPr marL="95250" marR="95250" marT="47625" marB="47625" anchor="ctr">
                    <a:solidFill>
                      <a:srgbClr val="17324D"/>
                    </a:solidFill>
                  </a:tcPr>
                </a:tc>
                <a:tc>
                  <a:txBody>
                    <a:bodyPr/>
                    <a:lstStyle/>
                    <a:p>
                      <a:r>
                        <a:rPr sz="1275" b="1">
                          <a:solidFill>
                            <a:srgbClr val="FFFFFF"/>
                          </a:solidFill>
                        </a:rPr>
                        <a:t>95% confidence interval</a:t>
                      </a:r>
                    </a:p>
                  </a:txBody>
                  <a:tcPr marL="95250" marR="95250" marT="47625" marB="47625" anchor="ctr">
                    <a:solidFill>
                      <a:srgbClr val="17324D"/>
                    </a:solidFill>
                  </a:tcPr>
                </a:tc>
              </a:tr>
              <a:tr h="469900">
                <a:tc>
                  <a:txBody>
                    <a:bodyPr/>
                    <a:lstStyle/>
                    <a:p>
                      <a:r>
                        <a:rPr sz="1200">
                          <a:solidFill>
                            <a:srgbClr val="18222C"/>
                          </a:solidFill>
                        </a:rPr>
                        <a:t>Q2 overall</a:t>
                      </a:r>
                    </a:p>
                  </a:txBody>
                  <a:tcPr marL="95250" marR="95250" marT="47625" marB="47625" anchor="ctr"/>
                </a:tc>
                <a:tc>
                  <a:txBody>
                    <a:bodyPr/>
                    <a:lstStyle/>
                    <a:p>
                      <a:r>
                        <a:rPr sz="1200">
                          <a:solidFill>
                            <a:srgbClr val="18222C"/>
                          </a:solidFill>
                        </a:rPr>
                        <a:t>4.148</a:t>
                      </a:r>
                    </a:p>
                  </a:txBody>
                  <a:tcPr marL="95250" marR="95250" marT="47625" marB="47625" anchor="ctr"/>
                </a:tc>
                <a:tc>
                  <a:txBody>
                    <a:bodyPr/>
                    <a:lstStyle/>
                    <a:p>
                      <a:r>
                        <a:rPr sz="1200">
                          <a:solidFill>
                            <a:srgbClr val="18222C"/>
                          </a:solidFill>
                        </a:rPr>
                        <a:t>3.978-4.318</a:t>
                      </a:r>
                    </a:p>
                  </a:txBody>
                  <a:tcPr marL="95250" marR="95250" marT="47625" marB="47625" anchor="ctr"/>
                </a:tc>
              </a:tr>
              <a:tr h="469900">
                <a:tc>
                  <a:txBody>
                    <a:bodyPr/>
                    <a:lstStyle/>
                    <a:p>
                      <a:r>
                        <a:rPr sz="1200">
                          <a:solidFill>
                            <a:srgbClr val="18222C"/>
                          </a:solidFill>
                        </a:rPr>
                        <a:t>Q3 urgent</a:t>
                      </a:r>
                    </a:p>
                  </a:txBody>
                  <a:tcPr marL="95250" marR="95250" marT="47625" marB="47625" anchor="ctr">
                    <a:solidFill>
                      <a:srgbClr val="EEF2F4"/>
                    </a:solidFill>
                  </a:tcPr>
                </a:tc>
                <a:tc>
                  <a:txBody>
                    <a:bodyPr/>
                    <a:lstStyle/>
                    <a:p>
                      <a:r>
                        <a:rPr sz="1200">
                          <a:solidFill>
                            <a:srgbClr val="18222C"/>
                          </a:solidFill>
                        </a:rPr>
                        <a:t>2.123</a:t>
                      </a:r>
                    </a:p>
                  </a:txBody>
                  <a:tcPr marL="95250" marR="95250" marT="47625" marB="47625" anchor="ctr">
                    <a:solidFill>
                      <a:srgbClr val="EEF2F4"/>
                    </a:solidFill>
                  </a:tcPr>
                </a:tc>
                <a:tc>
                  <a:txBody>
                    <a:bodyPr/>
                    <a:lstStyle/>
                    <a:p>
                      <a:r>
                        <a:rPr sz="1200">
                          <a:solidFill>
                            <a:srgbClr val="18222C"/>
                          </a:solidFill>
                        </a:rPr>
                        <a:t>2.075-2.172</a:t>
                      </a:r>
                    </a:p>
                  </a:txBody>
                  <a:tcPr marL="95250" marR="95250" marT="47625" marB="47625" anchor="ctr">
                    <a:solidFill>
                      <a:srgbClr val="EEF2F4"/>
                    </a:solidFill>
                  </a:tcPr>
                </a:tc>
              </a:tr>
              <a:tr h="469900">
                <a:tc>
                  <a:txBody>
                    <a:bodyPr/>
                    <a:lstStyle/>
                    <a:p>
                      <a:r>
                        <a:rPr sz="1200">
                          <a:solidFill>
                            <a:srgbClr val="18222C"/>
                          </a:solidFill>
                        </a:rPr>
                        <a:t>Q3 routine</a:t>
                      </a:r>
                    </a:p>
                  </a:txBody>
                  <a:tcPr marL="95250" marR="95250" marT="47625" marB="47625" anchor="ctr">
                    <a:solidFill>
                      <a:srgbClr val="FFF4D6"/>
                    </a:solidFill>
                  </a:tcPr>
                </a:tc>
                <a:tc>
                  <a:txBody>
                    <a:bodyPr/>
                    <a:lstStyle/>
                    <a:p>
                      <a:r>
                        <a:rPr sz="1200">
                          <a:solidFill>
                            <a:srgbClr val="18222C"/>
                          </a:solidFill>
                        </a:rPr>
                        <a:t>9.053</a:t>
                      </a:r>
                    </a:p>
                  </a:txBody>
                  <a:tcPr marL="95250" marR="95250" marT="47625" marB="47625" anchor="ctr">
                    <a:solidFill>
                      <a:srgbClr val="FFF4D6"/>
                    </a:solidFill>
                  </a:tcPr>
                </a:tc>
                <a:tc>
                  <a:txBody>
                    <a:bodyPr/>
                    <a:lstStyle/>
                    <a:p>
                      <a:r>
                        <a:rPr sz="1200">
                          <a:solidFill>
                            <a:srgbClr val="18222C"/>
                          </a:solidFill>
                        </a:rPr>
                        <a:t>8.621-9.484</a:t>
                      </a:r>
                    </a:p>
                  </a:txBody>
                  <a:tcPr marL="95250" marR="95250" marT="47625" marB="47625" anchor="ctr">
                    <a:solidFill>
                      <a:srgbClr val="FFF4D6"/>
                    </a:solidFill>
                  </a:tcPr>
                </a:tc>
              </a:tr>
              <a:tr h="469900">
                <a:tc>
                  <a:txBody>
                    <a:bodyPr/>
                    <a:lstStyle/>
                    <a:p>
                      <a:r>
                        <a:rPr sz="1200">
                          <a:solidFill>
                            <a:srgbClr val="18222C"/>
                          </a:solidFill>
                        </a:rPr>
                        <a:t>Q3 overall</a:t>
                      </a:r>
                    </a:p>
                  </a:txBody>
                  <a:tcPr marL="95250" marR="95250" marT="47625" marB="47625" anchor="ctr">
                    <a:solidFill>
                      <a:srgbClr val="EEF2F4"/>
                    </a:solidFill>
                  </a:tcPr>
                </a:tc>
                <a:tc>
                  <a:txBody>
                    <a:bodyPr/>
                    <a:lstStyle/>
                    <a:p>
                      <a:r>
                        <a:rPr sz="1200">
                          <a:solidFill>
                            <a:srgbClr val="18222C"/>
                          </a:solidFill>
                        </a:rPr>
                        <a:t>4.703</a:t>
                      </a:r>
                    </a:p>
                  </a:txBody>
                  <a:tcPr marL="95250" marR="95250" marT="47625" marB="47625" anchor="ctr">
                    <a:solidFill>
                      <a:srgbClr val="EEF2F4"/>
                    </a:solidFill>
                  </a:tcPr>
                </a:tc>
                <a:tc>
                  <a:txBody>
                    <a:bodyPr/>
                    <a:lstStyle/>
                    <a:p>
                      <a:r>
                        <a:rPr sz="1200">
                          <a:solidFill>
                            <a:srgbClr val="18222C"/>
                          </a:solidFill>
                        </a:rPr>
                        <a:t>4.513-4.893</a:t>
                      </a:r>
                    </a:p>
                  </a:txBody>
                  <a:tcPr marL="95250" marR="95250" marT="47625" marB="47625" anchor="ctr">
                    <a:solidFill>
                      <a:srgbClr val="EEF2F4"/>
                    </a:solidFill>
                  </a:tcPr>
                </a:tc>
              </a:tr>
              <a:tr h="469900">
                <a:tc>
                  <a:txBody>
                    <a:bodyPr/>
                    <a:lstStyle/>
                    <a:p>
                      <a:r>
                        <a:rPr sz="1200">
                          <a:solidFill>
                            <a:srgbClr val="18222C"/>
                          </a:solidFill>
                        </a:rPr>
                        <a:t>Q4 urgent</a:t>
                      </a:r>
                    </a:p>
                  </a:txBody>
                  <a:tcPr marL="95250" marR="95250" marT="47625" marB="47625" anchor="ctr"/>
                </a:tc>
                <a:tc>
                  <a:txBody>
                    <a:bodyPr/>
                    <a:lstStyle/>
                    <a:p>
                      <a:r>
                        <a:rPr sz="1200">
                          <a:solidFill>
                            <a:srgbClr val="18222C"/>
                          </a:solidFill>
                        </a:rPr>
                        <a:t>4.009</a:t>
                      </a:r>
                    </a:p>
                  </a:txBody>
                  <a:tcPr marL="95250" marR="95250" marT="47625" marB="47625" anchor="ctr"/>
                </a:tc>
                <a:tc>
                  <a:txBody>
                    <a:bodyPr/>
                    <a:lstStyle/>
                    <a:p>
                      <a:r>
                        <a:rPr sz="1200">
                          <a:solidFill>
                            <a:srgbClr val="18222C"/>
                          </a:solidFill>
                        </a:rPr>
                        <a:t>3.862-4.156</a:t>
                      </a:r>
                    </a:p>
                  </a:txBody>
                  <a:tcPr marL="95250" marR="95250" marT="47625" marB="47625" anchor="ctr"/>
                </a:tc>
              </a:tr>
              <a:tr h="469900">
                <a:tc>
                  <a:txBody>
                    <a:bodyPr/>
                    <a:lstStyle/>
                    <a:p>
                      <a:r>
                        <a:rPr sz="1200">
                          <a:solidFill>
                            <a:srgbClr val="18222C"/>
                          </a:solidFill>
                        </a:rPr>
                        <a:t>Q4 routine</a:t>
                      </a:r>
                    </a:p>
                  </a:txBody>
                  <a:tcPr marL="95250" marR="95250" marT="47625" marB="47625" anchor="ctr">
                    <a:solidFill>
                      <a:srgbClr val="EEF2F4"/>
                    </a:solidFill>
                  </a:tcPr>
                </a:tc>
                <a:tc>
                  <a:txBody>
                    <a:bodyPr/>
                    <a:lstStyle/>
                    <a:p>
                      <a:r>
                        <a:rPr sz="1200">
                          <a:solidFill>
                            <a:srgbClr val="18222C"/>
                          </a:solidFill>
                        </a:rPr>
                        <a:t>4.574</a:t>
                      </a:r>
                    </a:p>
                  </a:txBody>
                  <a:tcPr marL="95250" marR="95250" marT="47625" marB="47625" anchor="ctr">
                    <a:solidFill>
                      <a:srgbClr val="EEF2F4"/>
                    </a:solidFill>
                  </a:tcPr>
                </a:tc>
                <a:tc>
                  <a:txBody>
                    <a:bodyPr/>
                    <a:lstStyle/>
                    <a:p>
                      <a:r>
                        <a:rPr sz="1200">
                          <a:solidFill>
                            <a:srgbClr val="18222C"/>
                          </a:solidFill>
                        </a:rPr>
                        <a:t>4.426-4.722</a:t>
                      </a:r>
                    </a:p>
                  </a:txBody>
                  <a:tcPr marL="95250" marR="95250" marT="47625" marB="47625" anchor="ctr">
                    <a:solidFill>
                      <a:srgbClr val="EEF2F4"/>
                    </a:solidFill>
                  </a:tcPr>
                </a:tc>
              </a:tr>
              <a:tr h="469900">
                <a:tc>
                  <a:txBody>
                    <a:bodyPr/>
                    <a:lstStyle/>
                    <a:p>
                      <a:r>
                        <a:rPr sz="1200">
                          <a:solidFill>
                            <a:srgbClr val="18222C"/>
                          </a:solidFill>
                        </a:rPr>
                        <a:t>Q4 overall</a:t>
                      </a:r>
                    </a:p>
                  </a:txBody>
                  <a:tcPr marL="95250" marR="95250" marT="47625" marB="47625" anchor="ctr"/>
                </a:tc>
                <a:tc>
                  <a:txBody>
                    <a:bodyPr/>
                    <a:lstStyle/>
                    <a:p>
                      <a:r>
                        <a:rPr sz="1200">
                          <a:solidFill>
                            <a:srgbClr val="18222C"/>
                          </a:solidFill>
                        </a:rPr>
                        <a:t>4.219</a:t>
                      </a:r>
                    </a:p>
                  </a:txBody>
                  <a:tcPr marL="95250" marR="95250" marT="47625" marB="47625" anchor="ctr"/>
                </a:tc>
                <a:tc>
                  <a:txBody>
                    <a:bodyPr/>
                    <a:lstStyle/>
                    <a:p>
                      <a:r>
                        <a:rPr sz="1200">
                          <a:solidFill>
                            <a:srgbClr val="18222C"/>
                          </a:solidFill>
                        </a:rPr>
                        <a:t>4.072-4.367</a:t>
                      </a:r>
                    </a:p>
                  </a:txBody>
                  <a:tcPr marL="95250" marR="95250" marT="47625" marB="47625" anchor="ctr"/>
                </a:tc>
              </a:tr>
              <a:tr h="469900">
                <a:tc>
                  <a:txBody>
                    <a:bodyPr/>
                    <a:lstStyle/>
                    <a:p>
                      <a:r>
                        <a:rPr sz="1200">
                          <a:solidFill>
                            <a:srgbClr val="18222C"/>
                          </a:solidFill>
                        </a:rPr>
                        <a:t>Q4 utilisation</a:t>
                      </a:r>
                    </a:p>
                  </a:txBody>
                  <a:tcPr marL="95250" marR="95250" marT="47625" marB="47625" anchor="ctr">
                    <a:solidFill>
                      <a:srgbClr val="EEF2F4"/>
                    </a:solidFill>
                  </a:tcPr>
                </a:tc>
                <a:tc>
                  <a:txBody>
                    <a:bodyPr/>
                    <a:lstStyle/>
                    <a:p>
                      <a:r>
                        <a:rPr sz="1200">
                          <a:solidFill>
                            <a:srgbClr val="18222C"/>
                          </a:solidFill>
                        </a:rPr>
                        <a:t>97.911%</a:t>
                      </a:r>
                    </a:p>
                  </a:txBody>
                  <a:tcPr marL="95250" marR="95250" marT="47625" marB="47625" anchor="ctr">
                    <a:solidFill>
                      <a:srgbClr val="EEF2F4"/>
                    </a:solidFill>
                  </a:tcPr>
                </a:tc>
                <a:tc>
                  <a:txBody>
                    <a:bodyPr/>
                    <a:lstStyle/>
                    <a:p>
                      <a:r>
                        <a:rPr sz="1200">
                          <a:solidFill>
                            <a:srgbClr val="18222C"/>
                          </a:solidFill>
                        </a:rPr>
                        <a:t>97.858%-97.965%</a:t>
                      </a:r>
                    </a:p>
                  </a:txBody>
                  <a:tcPr marL="95250" marR="95250" marT="47625" marB="47625" anchor="ctr">
                    <a:solidFill>
                      <a:srgbClr val="EEF2F4"/>
                    </a:solidFill>
                  </a:tcPr>
                </a:tc>
              </a:tr>
            </a:tbl>
          </a:graphicData>
        </a:graphic>
      </p:graphicFrame>
      <p:sp>
        <p:nvSpPr>
          <p:cNvPr id="5" name="">
            <a:extLst xmlns:a="http://schemas.openxmlformats.org/drawingml/2006/main">
              <a:ext uri="{FF2B5EF4-FFF2-40B4-BE49-F238E27FC236}">
                <a16:creationId xmlns:a16="http://schemas.microsoft.com/office/drawing/2014/main" id="{6F3DF9EC-6308-4D7C-8141-99B6A82721F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6" name="source-footer">
            <a:extLst xmlns:a="http://schemas.openxmlformats.org/drawingml/2006/main">
              <a:ext uri="{FF2B5EF4-FFF2-40B4-BE49-F238E27FC236}">
                <a16:creationId xmlns:a16="http://schemas.microsoft.com/office/drawing/2014/main" id="{9554DD52-B2D8-41EB-BF4C-D63BE1C657B4}"/>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Q2-Q4 direct 250-replication outputs.</a:t>
            </a:r>
          </a:p>
        </p:txBody>
      </p:sp>
      <p:sp>
        <p:nvSpPr>
          <p:cNvPr id="7" name="slide-number">
            <a:extLst xmlns:a="http://schemas.openxmlformats.org/drawingml/2006/main">
              <a:ext uri="{FF2B5EF4-FFF2-40B4-BE49-F238E27FC236}">
                <a16:creationId xmlns:a16="http://schemas.microsoft.com/office/drawing/2014/main" id="{AF0624A7-7875-4EF5-AEB8-E27B10B692F3}"/>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09</a:t>
            </a:r>
          </a:p>
        </p:txBody>
      </p:sp>
    </p:spTree>
    <p:extLst>
      <p:ext uri="{BB962C8B-B14F-4D97-AF65-F5344CB8AC3E}">
        <p14:creationId xmlns:p14="http://schemas.microsoft.com/office/powerpoint/2010/main" val="1222444689"/>
      </p:ext>
    </p:extLst>
  </p:cSld>
</p:sld>
</file>

<file path=ppt/slides/slide10.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73B36BE-6D86-4A5C-9817-1D874D50EC69}"/>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FAS is insensitive to the tested warm-up lengths</a:t>
            </a:r>
          </a:p>
        </p:txBody>
      </p:sp>
      <p:sp>
        <p:nvSpPr>
          <p:cNvPr id="2" name="backup-label">
            <a:extLst xmlns:a="http://schemas.openxmlformats.org/drawingml/2006/main">
              <a:ext uri="{FF2B5EF4-FFF2-40B4-BE49-F238E27FC236}">
                <a16:creationId xmlns:a16="http://schemas.microsoft.com/office/drawing/2014/main" id="{F91F4E91-B1E1-4F44-9951-FB4E0467DAD3}"/>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C75DBC27-C39B-4D58-A9D8-4EC67143AE04}"/>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graphicFrame>
        <p:nvGraphicFramePr>
          <p:cNvPr id="12" name=""/>
          <p:cNvGraphicFramePr/>
          <p:nvPr/>
        </p:nvGraphicFramePr>
        <p:xfrm>
          <a:off xmlns:a="http://schemas.openxmlformats.org/drawingml/2006/main" x="1885950" y="1790700"/>
          <a:ext xmlns:a="http://schemas.openxmlformats.org/drawingml/2006/main" cx="8420100" cy="2514600"/>
        </p:xfrm>
        <a:graphic xmlns:a="http://schemas.openxmlformats.org/drawingml/2006/main">
          <a:graphicData uri="http://schemas.openxmlformats.org/drawingml/2006/table">
            <a:tbl>
              <a:tblPr/>
              <a:tblGrid>
                <a:gridCol w="2571750"/>
                <a:gridCol w="2286000"/>
                <a:gridCol w="3562350"/>
              </a:tblGrid>
              <a:tr h="628650">
                <a:tc>
                  <a:txBody>
                    <a:bodyPr/>
                    <a:lstStyle/>
                    <a:p>
                      <a:r>
                        <a:rPr sz="1275" b="1">
                          <a:solidFill>
                            <a:srgbClr val="FFFFFF"/>
                          </a:solidFill>
                        </a:rPr>
                        <a:t>Warm-up</a:t>
                      </a:r>
                    </a:p>
                  </a:txBody>
                  <a:tcPr marL="95250" marR="95250" marT="47625" marB="47625" anchor="ctr">
                    <a:solidFill>
                      <a:srgbClr val="17324D"/>
                    </a:solidFill>
                  </a:tcPr>
                </a:tc>
                <a:tc>
                  <a:txBody>
                    <a:bodyPr/>
                    <a:lstStyle/>
                    <a:p>
                      <a:r>
                        <a:rPr sz="1275" b="1">
                          <a:solidFill>
                            <a:srgbClr val="FFFFFF"/>
                          </a:solidFill>
                        </a:rPr>
                        <a:t>Overall mean</a:t>
                      </a:r>
                    </a:p>
                  </a:txBody>
                  <a:tcPr marL="95250" marR="95250" marT="47625" marB="47625" anchor="ctr">
                    <a:solidFill>
                      <a:srgbClr val="17324D"/>
                    </a:solidFill>
                  </a:tcPr>
                </a:tc>
                <a:tc>
                  <a:txBody>
                    <a:bodyPr/>
                    <a:lstStyle/>
                    <a:p>
                      <a:r>
                        <a:rPr sz="1275" b="1">
                          <a:solidFill>
                            <a:srgbClr val="FFFFFF"/>
                          </a:solidFill>
                        </a:rPr>
                        <a:t>95% confidence interval</a:t>
                      </a:r>
                    </a:p>
                  </a:txBody>
                  <a:tcPr marL="95250" marR="95250" marT="47625" marB="47625" anchor="ctr">
                    <a:solidFill>
                      <a:srgbClr val="17324D"/>
                    </a:solidFill>
                  </a:tcPr>
                </a:tc>
              </a:tr>
              <a:tr h="628650">
                <a:tc>
                  <a:txBody>
                    <a:bodyPr/>
                    <a:lstStyle/>
                    <a:p>
                      <a:r>
                        <a:rPr sz="1200">
                          <a:solidFill>
                            <a:srgbClr val="18222C"/>
                          </a:solidFill>
                        </a:rPr>
                        <a:t>500 served</a:t>
                      </a:r>
                    </a:p>
                  </a:txBody>
                  <a:tcPr marL="95250" marR="95250" marT="47625" marB="47625" anchor="ctr"/>
                </a:tc>
                <a:tc>
                  <a:txBody>
                    <a:bodyPr/>
                    <a:lstStyle/>
                    <a:p>
                      <a:r>
                        <a:rPr sz="1200">
                          <a:solidFill>
                            <a:srgbClr val="18222C"/>
                          </a:solidFill>
                        </a:rPr>
                        <a:t>4.133</a:t>
                      </a:r>
                    </a:p>
                  </a:txBody>
                  <a:tcPr marL="95250" marR="95250" marT="47625" marB="47625" anchor="ctr"/>
                </a:tc>
                <a:tc>
                  <a:txBody>
                    <a:bodyPr/>
                    <a:lstStyle/>
                    <a:p>
                      <a:r>
                        <a:rPr sz="1200">
                          <a:solidFill>
                            <a:srgbClr val="18222C"/>
                          </a:solidFill>
                        </a:rPr>
                        <a:t>3.965-4.302</a:t>
                      </a:r>
                    </a:p>
                  </a:txBody>
                  <a:tcPr marL="95250" marR="95250" marT="47625" marB="47625" anchor="ctr"/>
                </a:tc>
              </a:tr>
              <a:tr h="628650">
                <a:tc>
                  <a:txBody>
                    <a:bodyPr/>
                    <a:lstStyle/>
                    <a:p>
                      <a:r>
                        <a:rPr sz="1200">
                          <a:solidFill>
                            <a:srgbClr val="18222C"/>
                          </a:solidFill>
                        </a:rPr>
                        <a:t>1,000 served</a:t>
                      </a:r>
                    </a:p>
                  </a:txBody>
                  <a:tcPr marL="95250" marR="95250" marT="47625" marB="47625" anchor="ctr">
                    <a:solidFill>
                      <a:srgbClr val="EEF2F4"/>
                    </a:solidFill>
                  </a:tcPr>
                </a:tc>
                <a:tc>
                  <a:txBody>
                    <a:bodyPr/>
                    <a:lstStyle/>
                    <a:p>
                      <a:r>
                        <a:rPr sz="1200">
                          <a:solidFill>
                            <a:srgbClr val="18222C"/>
                          </a:solidFill>
                        </a:rPr>
                        <a:t>4.148</a:t>
                      </a:r>
                    </a:p>
                  </a:txBody>
                  <a:tcPr marL="95250" marR="95250" marT="47625" marB="47625" anchor="ctr">
                    <a:solidFill>
                      <a:srgbClr val="EEF2F4"/>
                    </a:solidFill>
                  </a:tcPr>
                </a:tc>
                <a:tc>
                  <a:txBody>
                    <a:bodyPr/>
                    <a:lstStyle/>
                    <a:p>
                      <a:r>
                        <a:rPr sz="1200">
                          <a:solidFill>
                            <a:srgbClr val="18222C"/>
                          </a:solidFill>
                        </a:rPr>
                        <a:t>3.978-4.318</a:t>
                      </a:r>
                    </a:p>
                  </a:txBody>
                  <a:tcPr marL="95250" marR="95250" marT="47625" marB="47625" anchor="ctr">
                    <a:solidFill>
                      <a:srgbClr val="EEF2F4"/>
                    </a:solidFill>
                  </a:tcPr>
                </a:tc>
              </a:tr>
              <a:tr h="628650">
                <a:tc>
                  <a:txBody>
                    <a:bodyPr/>
                    <a:lstStyle/>
                    <a:p>
                      <a:r>
                        <a:rPr sz="1200">
                          <a:solidFill>
                            <a:srgbClr val="18222C"/>
                          </a:solidFill>
                        </a:rPr>
                        <a:t>2,000 served</a:t>
                      </a:r>
                    </a:p>
                  </a:txBody>
                  <a:tcPr marL="95250" marR="95250" marT="47625" marB="47625" anchor="ctr"/>
                </a:tc>
                <a:tc>
                  <a:txBody>
                    <a:bodyPr/>
                    <a:lstStyle/>
                    <a:p>
                      <a:r>
                        <a:rPr sz="1200">
                          <a:solidFill>
                            <a:srgbClr val="18222C"/>
                          </a:solidFill>
                        </a:rPr>
                        <a:t>4.172</a:t>
                      </a:r>
                    </a:p>
                  </a:txBody>
                  <a:tcPr marL="95250" marR="95250" marT="47625" marB="47625" anchor="ctr"/>
                </a:tc>
                <a:tc>
                  <a:txBody>
                    <a:bodyPr/>
                    <a:lstStyle/>
                    <a:p>
                      <a:r>
                        <a:rPr sz="1200">
                          <a:solidFill>
                            <a:srgbClr val="18222C"/>
                          </a:solidFill>
                        </a:rPr>
                        <a:t>3.999-4.345</a:t>
                      </a:r>
                    </a:p>
                  </a:txBody>
                  <a:tcPr marL="95250" marR="95250" marT="47625" marB="47625" anchor="ctr"/>
                </a:tc>
              </a:tr>
            </a:tbl>
          </a:graphicData>
        </a:graphic>
      </p:graphicFrame>
      <p:sp>
        <p:nvSpPr>
          <p:cNvPr id="5" name="">
            <a:extLst xmlns:a="http://schemas.openxmlformats.org/drawingml/2006/main">
              <a:ext uri="{FF2B5EF4-FFF2-40B4-BE49-F238E27FC236}">
                <a16:creationId xmlns:a16="http://schemas.microsoft.com/office/drawing/2014/main" id="{63BF0873-2400-48BD-A7B1-65D2124E1087}"/>
              </a:ext>
            </a:extLst>
          </p:cNvPr>
          <p:cNvSpPr>
            <a:spLocks xmlns:a="http://schemas.openxmlformats.org/drawingml/2006/main" noGrp="1"/>
          </p:cNvSpPr>
          <p:nvPr/>
        </p:nvSpPr>
        <p:spPr>
          <a:xfrm xmlns:a="http://schemas.openxmlformats.org/drawingml/2006/main">
            <a:off x="1619250" y="4819650"/>
            <a:ext cx="8953500" cy="762000"/>
          </a:xfrm>
          <a:prstGeom xmlns:a="http://schemas.openxmlformats.org/drawingml/2006/main" prst="roundRect">
            <a:avLst>
              <a:gd name="adj" fmla="val 25000"/>
            </a:avLst>
          </a:prstGeom>
          <a:solidFill xmlns:a="http://schemas.openxmlformats.org/drawingml/2006/main">
            <a:srgbClr val="DCEEE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17324D"/>
                </a:solidFill>
                <a:latin typeface="Aptos"/>
                <a:ea typeface="Aptos"/>
                <a:cs typeface="Aptos"/>
              </a:defRPr>
            </a:pPr>
            <a:r>
              <a:rPr sz="1800" b="1">
                <a:solidFill>
                  <a:srgbClr val="17324D"/>
                </a:solidFill>
                <a:latin typeface="Aptos"/>
                <a:ea typeface="Aptos"/>
                <a:cs typeface="Aptos"/>
              </a:rPr>
              <a:t>The intervals overlap strongly; 1,000 served balances transient removal and data retention.</a:t>
            </a:r>
          </a:p>
        </p:txBody>
      </p:sp>
      <p:sp>
        <p:nvSpPr>
          <p:cNvPr id="6" name="">
            <a:extLst xmlns:a="http://schemas.openxmlformats.org/drawingml/2006/main">
              <a:ext uri="{FF2B5EF4-FFF2-40B4-BE49-F238E27FC236}">
                <a16:creationId xmlns:a16="http://schemas.microsoft.com/office/drawing/2014/main" id="{DD3887C6-8CA2-4484-9BC1-4575820E2982}"/>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7" name="source-footer">
            <a:extLst xmlns:a="http://schemas.openxmlformats.org/drawingml/2006/main">
              <a:ext uri="{FF2B5EF4-FFF2-40B4-BE49-F238E27FC236}">
                <a16:creationId xmlns:a16="http://schemas.microsoft.com/office/drawing/2014/main" id="{882996D2-7D2A-43C8-AAC9-F74129D44168}"/>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Q2 warm-up sensitivity output; report Section 4.1.</a:t>
            </a:r>
          </a:p>
        </p:txBody>
      </p:sp>
      <p:sp>
        <p:nvSpPr>
          <p:cNvPr id="8" name="slide-number">
            <a:extLst xmlns:a="http://schemas.openxmlformats.org/drawingml/2006/main">
              <a:ext uri="{FF2B5EF4-FFF2-40B4-BE49-F238E27FC236}">
                <a16:creationId xmlns:a16="http://schemas.microsoft.com/office/drawing/2014/main" id="{1BA1FD08-FAA4-4D2E-9986-333195C0D796}"/>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10</a:t>
            </a:r>
          </a:p>
        </p:txBody>
      </p:sp>
    </p:spTree>
    <p:extLst>
      <p:ext uri="{BB962C8B-B14F-4D97-AF65-F5344CB8AC3E}">
        <p14:creationId xmlns:p14="http://schemas.microsoft.com/office/powerpoint/2010/main" val="10008891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AF1FAF06-6B99-446C-81AA-B3580DC6BA9B}"/>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Q3 is selected at the feasible boundary</a:t>
            </a:r>
          </a:p>
        </p:txBody>
      </p:sp>
      <p:sp>
        <p:nvSpPr>
          <p:cNvPr id="2" name="backup-label">
            <a:extLst xmlns:a="http://schemas.openxmlformats.org/drawingml/2006/main">
              <a:ext uri="{FF2B5EF4-FFF2-40B4-BE49-F238E27FC236}">
                <a16:creationId xmlns:a16="http://schemas.microsoft.com/office/drawing/2014/main" id="{ECA26747-CB65-4BC1-94F5-C2E4B438B0B1}"/>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ECC14CC6-AA4F-44AD-B903-52F0DAFCEAD1}"/>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E0F17C-4B00-4803-8549-875041CAFB3C}"/>
              </a:ext>
            </a:extLst>
          </p:cNvPr>
          <p:cNvSpPr>
            <a:spLocks xmlns:a="http://schemas.openxmlformats.org/drawingml/2006/main" noGrp="1"/>
          </p:cNvSpPr>
          <p:nvPr/>
        </p:nvSpPr>
        <p:spPr>
          <a:xfrm xmlns:a="http://schemas.openxmlformats.org/drawingml/2006/main">
            <a:off x="952500" y="1695450"/>
            <a:ext cx="10287000" cy="1066800"/>
          </a:xfrm>
          <a:prstGeom xmlns:a="http://schemas.openxmlformats.org/drawingml/2006/main" prst="roundRect">
            <a:avLst>
              <a:gd name="adj" fmla="val 19643"/>
            </a:avLst>
          </a:prstGeom>
          <a:solidFill xmlns:a="http://schemas.openxmlformats.org/drawingml/2006/main">
            <a:srgbClr val="17324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AC589D1-EA70-4AC0-A8FA-7F34565B81F5}"/>
              </a:ext>
            </a:extLst>
          </p:cNvPr>
          <p:cNvSpPr>
            <a:spLocks xmlns:a="http://schemas.openxmlformats.org/drawingml/2006/main" noGrp="1"/>
          </p:cNvSpPr>
          <p:nvPr/>
        </p:nvSpPr>
        <p:spPr>
          <a:xfrm xmlns:a="http://schemas.openxmlformats.org/drawingml/2006/main">
            <a:off x="1314450" y="1943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BFD0DB"/>
                </a:solidFill>
                <a:latin typeface="Aptos"/>
                <a:ea typeface="Aptos"/>
                <a:cs typeface="Aptos"/>
              </a:defRPr>
            </a:pPr>
            <a:r>
              <a:rPr sz="1350" b="0">
                <a:solidFill>
                  <a:srgbClr val="BFD0DB"/>
                </a:solidFill>
                <a:latin typeface="Aptos"/>
                <a:ea typeface="Aptos"/>
                <a:cs typeface="Aptos"/>
              </a:rPr>
              <a:t>Selected setting</a:t>
            </a:r>
          </a:p>
        </p:txBody>
      </p:sp>
      <p:sp>
        <p:nvSpPr>
          <p:cNvPr id="6" name="">
            <a:extLst xmlns:a="http://schemas.openxmlformats.org/drawingml/2006/main">
              <a:ext uri="{FF2B5EF4-FFF2-40B4-BE49-F238E27FC236}">
                <a16:creationId xmlns:a16="http://schemas.microsoft.com/office/drawing/2014/main" id="{D4837D4A-35DD-40D2-AE15-B6155CEA1A6D}"/>
              </a:ext>
            </a:extLst>
          </p:cNvPr>
          <p:cNvSpPr>
            <a:spLocks xmlns:a="http://schemas.openxmlformats.org/drawingml/2006/main" noGrp="1"/>
          </p:cNvSpPr>
          <p:nvPr/>
        </p:nvSpPr>
        <p:spPr>
          <a:xfrm xmlns:a="http://schemas.openxmlformats.org/drawingml/2006/main">
            <a:off x="1314450" y="23050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α1 = 0   |   α2 = 0.35</a:t>
            </a:r>
          </a:p>
        </p:txBody>
      </p:sp>
      <p:sp>
        <p:nvSpPr>
          <p:cNvPr id="7" name="">
            <a:extLst xmlns:a="http://schemas.openxmlformats.org/drawingml/2006/main">
              <a:ext uri="{FF2B5EF4-FFF2-40B4-BE49-F238E27FC236}">
                <a16:creationId xmlns:a16="http://schemas.microsoft.com/office/drawing/2014/main" id="{AC489A9E-CEAF-4850-9BDE-DEFFB0A8332F}"/>
              </a:ext>
            </a:extLst>
          </p:cNvPr>
          <p:cNvSpPr>
            <a:spLocks xmlns:a="http://schemas.openxmlformats.org/drawingml/2006/main" noGrp="1"/>
          </p:cNvSpPr>
          <p:nvPr/>
        </p:nvSpPr>
        <p:spPr>
          <a:xfrm xmlns:a="http://schemas.openxmlformats.org/drawingml/2006/main">
            <a:off x="7239000" y="21145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725" b="1">
                <a:solidFill>
                  <a:srgbClr val="A9D7D8"/>
                </a:solidFill>
                <a:latin typeface="Aptos"/>
                <a:ea typeface="Aptos"/>
                <a:cs typeface="Aptos"/>
              </a:defRPr>
            </a:pPr>
            <a:r>
              <a:rPr sz="1725" b="1">
                <a:solidFill>
                  <a:srgbClr val="A9D7D8"/>
                </a:solidFill>
                <a:latin typeface="Aptos"/>
                <a:ea typeface="Aptos"/>
                <a:cs typeface="Aptos"/>
              </a:rPr>
              <a:t>Best tested feasible boundary</a:t>
            </a:r>
          </a:p>
        </p:txBody>
      </p:sp>
      <p:sp>
        <p:nvSpPr>
          <p:cNvPr id="8" name="">
            <a:extLst xmlns:a="http://schemas.openxmlformats.org/drawingml/2006/main">
              <a:ext uri="{FF2B5EF4-FFF2-40B4-BE49-F238E27FC236}">
                <a16:creationId xmlns:a16="http://schemas.microsoft.com/office/drawing/2014/main" id="{11A02BD8-C5B0-4D9C-AF5D-7EEFBA6BBD84}"/>
              </a:ext>
            </a:extLst>
          </p:cNvPr>
          <p:cNvSpPr>
            <a:spLocks xmlns:a="http://schemas.openxmlformats.org/drawingml/2006/main" noGrp="1"/>
          </p:cNvSpPr>
          <p:nvPr/>
        </p:nvSpPr>
        <p:spPr>
          <a:xfrm xmlns:a="http://schemas.openxmlformats.org/drawingml/2006/main">
            <a:off x="1409700" y="32766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600" b="1">
                <a:solidFill>
                  <a:srgbClr val="007F82"/>
                </a:solidFill>
                <a:latin typeface="Aptos Display"/>
                <a:ea typeface="Aptos Display"/>
                <a:cs typeface="Aptos Display"/>
              </a:defRPr>
            </a:pPr>
            <a:r>
              <a:rPr sz="3600" b="1">
                <a:solidFill>
                  <a:srgbClr val="007F82"/>
                </a:solidFill>
                <a:latin typeface="Aptos Display"/>
                <a:ea typeface="Aptos Display"/>
                <a:cs typeface="Aptos Display"/>
              </a:rPr>
              <a:t>2.123</a:t>
            </a:r>
          </a:p>
        </p:txBody>
      </p:sp>
      <p:sp>
        <p:nvSpPr>
          <p:cNvPr id="9" name="">
            <a:extLst xmlns:a="http://schemas.openxmlformats.org/drawingml/2006/main">
              <a:ext uri="{FF2B5EF4-FFF2-40B4-BE49-F238E27FC236}">
                <a16:creationId xmlns:a16="http://schemas.microsoft.com/office/drawing/2014/main" id="{4CB563DA-36FC-4C6E-8D5F-EDE0D60CA9B0}"/>
              </a:ext>
            </a:extLst>
          </p:cNvPr>
          <p:cNvSpPr>
            <a:spLocks xmlns:a="http://schemas.openxmlformats.org/drawingml/2006/main" noGrp="1"/>
          </p:cNvSpPr>
          <p:nvPr/>
        </p:nvSpPr>
        <p:spPr>
          <a:xfrm xmlns:a="http://schemas.openxmlformats.org/drawingml/2006/main">
            <a:off x="1409700" y="39624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687783"/>
                </a:solidFill>
                <a:latin typeface="Aptos"/>
                <a:ea typeface="Aptos"/>
                <a:cs typeface="Aptos"/>
              </a:defRPr>
            </a:pPr>
            <a:r>
              <a:rPr sz="1350" b="1">
                <a:solidFill>
                  <a:srgbClr val="687783"/>
                </a:solidFill>
                <a:latin typeface="Aptos"/>
                <a:ea typeface="Aptos"/>
                <a:cs typeface="Aptos"/>
              </a:rPr>
              <a:t>urgent mean</a:t>
            </a:r>
          </a:p>
        </p:txBody>
      </p:sp>
      <p:sp>
        <p:nvSpPr>
          <p:cNvPr id="10" name="">
            <a:extLst xmlns:a="http://schemas.openxmlformats.org/drawingml/2006/main">
              <a:ext uri="{FF2B5EF4-FFF2-40B4-BE49-F238E27FC236}">
                <a16:creationId xmlns:a16="http://schemas.microsoft.com/office/drawing/2014/main" id="{012DAF4D-165B-4594-AB97-6444E15219E5}"/>
              </a:ext>
            </a:extLst>
          </p:cNvPr>
          <p:cNvSpPr>
            <a:spLocks xmlns:a="http://schemas.openxmlformats.org/drawingml/2006/main" noGrp="1"/>
          </p:cNvSpPr>
          <p:nvPr/>
        </p:nvSpPr>
        <p:spPr>
          <a:xfrm xmlns:a="http://schemas.openxmlformats.org/drawingml/2006/main">
            <a:off x="4667250" y="32766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600" b="1">
                <a:solidFill>
                  <a:srgbClr val="D68B00"/>
                </a:solidFill>
                <a:latin typeface="Aptos Display"/>
                <a:ea typeface="Aptos Display"/>
                <a:cs typeface="Aptos Display"/>
              </a:defRPr>
            </a:pPr>
            <a:r>
              <a:rPr sz="3600" b="1">
                <a:solidFill>
                  <a:srgbClr val="D68B00"/>
                </a:solidFill>
                <a:latin typeface="Aptos Display"/>
                <a:ea typeface="Aptos Display"/>
                <a:cs typeface="Aptos Display"/>
              </a:rPr>
              <a:t>9.053</a:t>
            </a:r>
          </a:p>
        </p:txBody>
      </p:sp>
      <p:sp>
        <p:nvSpPr>
          <p:cNvPr id="11" name="">
            <a:extLst xmlns:a="http://schemas.openxmlformats.org/drawingml/2006/main">
              <a:ext uri="{FF2B5EF4-FFF2-40B4-BE49-F238E27FC236}">
                <a16:creationId xmlns:a16="http://schemas.microsoft.com/office/drawing/2014/main" id="{77CE0D80-7CC8-4CDA-8ACC-424AC9F0D01C}"/>
              </a:ext>
            </a:extLst>
          </p:cNvPr>
          <p:cNvSpPr>
            <a:spLocks xmlns:a="http://schemas.openxmlformats.org/drawingml/2006/main" noGrp="1"/>
          </p:cNvSpPr>
          <p:nvPr/>
        </p:nvSpPr>
        <p:spPr>
          <a:xfrm xmlns:a="http://schemas.openxmlformats.org/drawingml/2006/main">
            <a:off x="4667250" y="39624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687783"/>
                </a:solidFill>
                <a:latin typeface="Aptos"/>
                <a:ea typeface="Aptos"/>
                <a:cs typeface="Aptos"/>
              </a:defRPr>
            </a:pPr>
            <a:r>
              <a:rPr sz="1350" b="1">
                <a:solidFill>
                  <a:srgbClr val="687783"/>
                </a:solidFill>
                <a:latin typeface="Aptos"/>
                <a:ea typeface="Aptos"/>
                <a:cs typeface="Aptos"/>
              </a:rPr>
              <a:t>routine mean</a:t>
            </a:r>
          </a:p>
        </p:txBody>
      </p:sp>
      <p:sp>
        <p:nvSpPr>
          <p:cNvPr id="12" name="">
            <a:extLst xmlns:a="http://schemas.openxmlformats.org/drawingml/2006/main">
              <a:ext uri="{FF2B5EF4-FFF2-40B4-BE49-F238E27FC236}">
                <a16:creationId xmlns:a16="http://schemas.microsoft.com/office/drawing/2014/main" id="{C286FCD7-D76F-4488-B516-2567127D76CA}"/>
              </a:ext>
            </a:extLst>
          </p:cNvPr>
          <p:cNvSpPr>
            <a:spLocks xmlns:a="http://schemas.openxmlformats.org/drawingml/2006/main" noGrp="1"/>
          </p:cNvSpPr>
          <p:nvPr/>
        </p:nvSpPr>
        <p:spPr>
          <a:xfrm xmlns:a="http://schemas.openxmlformats.org/drawingml/2006/main">
            <a:off x="7924800" y="32766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600" b="1">
                <a:solidFill>
                  <a:srgbClr val="17324D"/>
                </a:solidFill>
                <a:latin typeface="Aptos Display"/>
                <a:ea typeface="Aptos Display"/>
                <a:cs typeface="Aptos Display"/>
              </a:defRPr>
            </a:pPr>
            <a:r>
              <a:rPr sz="3600" b="1">
                <a:solidFill>
                  <a:srgbClr val="17324D"/>
                </a:solidFill>
                <a:latin typeface="Aptos Display"/>
                <a:ea typeface="Aptos Display"/>
                <a:cs typeface="Aptos Display"/>
              </a:rPr>
              <a:t>4.703</a:t>
            </a:r>
          </a:p>
        </p:txBody>
      </p:sp>
      <p:sp>
        <p:nvSpPr>
          <p:cNvPr id="13" name="">
            <a:extLst xmlns:a="http://schemas.openxmlformats.org/drawingml/2006/main">
              <a:ext uri="{FF2B5EF4-FFF2-40B4-BE49-F238E27FC236}">
                <a16:creationId xmlns:a16="http://schemas.microsoft.com/office/drawing/2014/main" id="{A377C703-E130-4428-8028-2080340DFBB0}"/>
              </a:ext>
            </a:extLst>
          </p:cNvPr>
          <p:cNvSpPr>
            <a:spLocks xmlns:a="http://schemas.openxmlformats.org/drawingml/2006/main" noGrp="1"/>
          </p:cNvSpPr>
          <p:nvPr/>
        </p:nvSpPr>
        <p:spPr>
          <a:xfrm xmlns:a="http://schemas.openxmlformats.org/drawingml/2006/main">
            <a:off x="7924800" y="3962400"/>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687783"/>
                </a:solidFill>
                <a:latin typeface="Aptos"/>
                <a:ea typeface="Aptos"/>
                <a:cs typeface="Aptos"/>
              </a:defRPr>
            </a:pPr>
            <a:r>
              <a:rPr sz="1350" b="1">
                <a:solidFill>
                  <a:srgbClr val="687783"/>
                </a:solidFill>
                <a:latin typeface="Aptos"/>
                <a:ea typeface="Aptos"/>
                <a:cs typeface="Aptos"/>
              </a:rPr>
              <a:t>overall mean</a:t>
            </a:r>
          </a:p>
        </p:txBody>
      </p:sp>
      <p:sp>
        <p:nvSpPr>
          <p:cNvPr id="14" name="">
            <a:extLst xmlns:a="http://schemas.openxmlformats.org/drawingml/2006/main">
              <a:ext uri="{FF2B5EF4-FFF2-40B4-BE49-F238E27FC236}">
                <a16:creationId xmlns:a16="http://schemas.microsoft.com/office/drawing/2014/main" id="{2789CDD9-1547-4314-956E-EDEC28C74934}"/>
              </a:ext>
            </a:extLst>
          </p:cNvPr>
          <p:cNvSpPr>
            <a:spLocks xmlns:a="http://schemas.openxmlformats.org/drawingml/2006/main" noGrp="1"/>
          </p:cNvSpPr>
          <p:nvPr/>
        </p:nvSpPr>
        <p:spPr>
          <a:xfrm xmlns:a="http://schemas.openxmlformats.org/drawingml/2006/main">
            <a:off x="2095500" y="5238750"/>
            <a:ext cx="8001000" cy="495300"/>
          </a:xfrm>
          <a:prstGeom xmlns:a="http://schemas.openxmlformats.org/drawingml/2006/main" prst="roundRect">
            <a:avLst>
              <a:gd name="adj" fmla="val 34615"/>
            </a:avLst>
          </a:prstGeom>
          <a:solidFill xmlns:a="http://schemas.openxmlformats.org/drawingml/2006/main">
            <a:srgbClr val="FBEAEC"/>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B23A48"/>
                </a:solidFill>
                <a:latin typeface="Aptos"/>
                <a:ea typeface="Aptos"/>
                <a:cs typeface="Aptos"/>
              </a:defRPr>
            </a:pPr>
            <a:r>
              <a:rPr sz="1575" b="1">
                <a:solidFill>
                  <a:srgbClr val="B23A48"/>
                </a:solidFill>
                <a:latin typeface="Aptos"/>
                <a:ea typeface="Aptos"/>
                <a:cs typeface="Aptos"/>
              </a:rPr>
              <a:t>The finite screen identifies the best tested setting, not a global optimum.</a:t>
            </a:r>
          </a:p>
        </p:txBody>
      </p:sp>
      <p:sp>
        <p:nvSpPr>
          <p:cNvPr id="15" name="">
            <a:extLst xmlns:a="http://schemas.openxmlformats.org/drawingml/2006/main">
              <a:ext uri="{FF2B5EF4-FFF2-40B4-BE49-F238E27FC236}">
                <a16:creationId xmlns:a16="http://schemas.microsoft.com/office/drawing/2014/main" id="{F4CCEA98-5F62-4D6F-8229-9437B32B363D}"/>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6" name="source-footer">
            <a:extLst xmlns:a="http://schemas.openxmlformats.org/drawingml/2006/main">
              <a:ext uri="{FF2B5EF4-FFF2-40B4-BE49-F238E27FC236}">
                <a16:creationId xmlns:a16="http://schemas.microsoft.com/office/drawing/2014/main" id="{F43C9679-665E-41D2-9404-CE399F0E7A13}"/>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Report Section 4.2 and Q3 screening experiments.</a:t>
            </a:r>
          </a:p>
        </p:txBody>
      </p:sp>
      <p:sp>
        <p:nvSpPr>
          <p:cNvPr id="17" name="slide-number">
            <a:extLst xmlns:a="http://schemas.openxmlformats.org/drawingml/2006/main">
              <a:ext uri="{FF2B5EF4-FFF2-40B4-BE49-F238E27FC236}">
                <a16:creationId xmlns:a16="http://schemas.microsoft.com/office/drawing/2014/main" id="{D05D8CF6-E99D-41D8-B34A-6BC2CE10BBFE}"/>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11</a:t>
            </a:r>
          </a:p>
        </p:txBody>
      </p:sp>
    </p:spTree>
    <p:extLst>
      <p:ext uri="{BB962C8B-B14F-4D97-AF65-F5344CB8AC3E}">
        <p14:creationId xmlns:p14="http://schemas.microsoft.com/office/powerpoint/2010/main" val="12423734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2B449EC-A521-4A57-993E-7AF473C53B1E}"/>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Q4 screening rules out aggressive protection</a:t>
            </a:r>
          </a:p>
        </p:txBody>
      </p:sp>
      <p:sp>
        <p:nvSpPr>
          <p:cNvPr id="2" name="backup-label">
            <a:extLst xmlns:a="http://schemas.openxmlformats.org/drawingml/2006/main">
              <a:ext uri="{FF2B5EF4-FFF2-40B4-BE49-F238E27FC236}">
                <a16:creationId xmlns:a16="http://schemas.microsoft.com/office/drawing/2014/main" id="{0C848408-5A2E-4C7A-A5AA-DD5A4B04E086}"/>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D353D681-9F68-4921-B646-59593C49EFDB}"/>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graphicFrame>
        <p:nvGraphicFramePr>
          <p:cNvPr id="13" name=""/>
          <p:cNvGraphicFramePr/>
          <p:nvPr/>
        </p:nvGraphicFramePr>
        <p:xfrm>
          <a:off xmlns:a="http://schemas.openxmlformats.org/drawingml/2006/main" x="1200150" y="1562100"/>
          <a:ext xmlns:a="http://schemas.openxmlformats.org/drawingml/2006/main" cx="9791700" cy="2895600"/>
        </p:xfrm>
        <a:graphic xmlns:a="http://schemas.openxmlformats.org/drawingml/2006/main">
          <a:graphicData uri="http://schemas.openxmlformats.org/drawingml/2006/table">
            <a:tbl>
              <a:tblPr/>
              <a:tblGrid>
                <a:gridCol w="3276600"/>
                <a:gridCol w="2171700"/>
                <a:gridCol w="2171700"/>
                <a:gridCol w="2171700"/>
              </a:tblGrid>
              <a:tr h="579120">
                <a:tc>
                  <a:txBody>
                    <a:bodyPr/>
                    <a:lstStyle/>
                    <a:p>
                      <a:r>
                        <a:rPr sz="1275" b="1">
                          <a:solidFill>
                            <a:srgbClr val="FFFFFF"/>
                          </a:solidFill>
                        </a:rPr>
                        <a:t>Policy</a:t>
                      </a:r>
                    </a:p>
                  </a:txBody>
                  <a:tcPr marL="95250" marR="95250" marT="47625" marB="47625" anchor="ctr">
                    <a:solidFill>
                      <a:srgbClr val="17324D"/>
                    </a:solidFill>
                  </a:tcPr>
                </a:tc>
                <a:tc>
                  <a:txBody>
                    <a:bodyPr/>
                    <a:lstStyle/>
                    <a:p>
                      <a:r>
                        <a:rPr sz="1275" b="1">
                          <a:solidFill>
                            <a:srgbClr val="FFFFFF"/>
                          </a:solidFill>
                        </a:rPr>
                        <a:t>Urgent</a:t>
                      </a:r>
                    </a:p>
                  </a:txBody>
                  <a:tcPr marL="95250" marR="95250" marT="47625" marB="47625" anchor="ctr">
                    <a:solidFill>
                      <a:srgbClr val="17324D"/>
                    </a:solidFill>
                  </a:tcPr>
                </a:tc>
                <a:tc>
                  <a:txBody>
                    <a:bodyPr/>
                    <a:lstStyle/>
                    <a:p>
                      <a:r>
                        <a:rPr sz="1275" b="1">
                          <a:solidFill>
                            <a:srgbClr val="FFFFFF"/>
                          </a:solidFill>
                        </a:rPr>
                        <a:t>Routine</a:t>
                      </a:r>
                    </a:p>
                  </a:txBody>
                  <a:tcPr marL="95250" marR="95250" marT="47625" marB="47625" anchor="ctr">
                    <a:solidFill>
                      <a:srgbClr val="17324D"/>
                    </a:solidFill>
                  </a:tcPr>
                </a:tc>
                <a:tc>
                  <a:txBody>
                    <a:bodyPr/>
                    <a:lstStyle/>
                    <a:p>
                      <a:r>
                        <a:rPr sz="1275" b="1">
                          <a:solidFill>
                            <a:srgbClr val="FFFFFF"/>
                          </a:solidFill>
                        </a:rPr>
                        <a:t>Overall</a:t>
                      </a:r>
                    </a:p>
                  </a:txBody>
                  <a:tcPr marL="95250" marR="95250" marT="47625" marB="47625" anchor="ctr">
                    <a:solidFill>
                      <a:srgbClr val="17324D"/>
                    </a:solidFill>
                  </a:tcPr>
                </a:tc>
              </a:tr>
              <a:tr h="579120">
                <a:tc>
                  <a:txBody>
                    <a:bodyPr/>
                    <a:lstStyle/>
                    <a:p>
                      <a:r>
                        <a:rPr sz="1200">
                          <a:solidFill>
                            <a:srgbClr val="18222C"/>
                          </a:solidFill>
                        </a:rPr>
                        <a:t>eta 0.1, H 3</a:t>
                      </a:r>
                    </a:p>
                  </a:txBody>
                  <a:tcPr marL="95250" marR="95250" marT="47625" marB="47625" anchor="ctr"/>
                </a:tc>
                <a:tc>
                  <a:txBody>
                    <a:bodyPr/>
                    <a:lstStyle/>
                    <a:p>
                      <a:r>
                        <a:rPr sz="1200">
                          <a:solidFill>
                            <a:srgbClr val="18222C"/>
                          </a:solidFill>
                        </a:rPr>
                        <a:t>4.107</a:t>
                      </a:r>
                    </a:p>
                  </a:txBody>
                  <a:tcPr marL="95250" marR="95250" marT="47625" marB="47625" anchor="ctr"/>
                </a:tc>
                <a:tc>
                  <a:txBody>
                    <a:bodyPr/>
                    <a:lstStyle/>
                    <a:p>
                      <a:r>
                        <a:rPr sz="1200">
                          <a:solidFill>
                            <a:srgbClr val="18222C"/>
                          </a:solidFill>
                        </a:rPr>
                        <a:t>4.691</a:t>
                      </a:r>
                    </a:p>
                  </a:txBody>
                  <a:tcPr marL="95250" marR="95250" marT="47625" marB="47625" anchor="ctr"/>
                </a:tc>
                <a:tc>
                  <a:txBody>
                    <a:bodyPr/>
                    <a:lstStyle/>
                    <a:p>
                      <a:r>
                        <a:rPr sz="1200">
                          <a:solidFill>
                            <a:srgbClr val="18222C"/>
                          </a:solidFill>
                        </a:rPr>
                        <a:t>4.325</a:t>
                      </a:r>
                    </a:p>
                  </a:txBody>
                  <a:tcPr marL="95250" marR="95250" marT="47625" marB="47625" anchor="ctr"/>
                </a:tc>
              </a:tr>
              <a:tr h="579120">
                <a:tc>
                  <a:txBody>
                    <a:bodyPr/>
                    <a:lstStyle/>
                    <a:p>
                      <a:r>
                        <a:rPr sz="1200">
                          <a:solidFill>
                            <a:srgbClr val="18222C"/>
                          </a:solidFill>
                        </a:rPr>
                        <a:t>eta 0.1, H 2</a:t>
                      </a:r>
                    </a:p>
                  </a:txBody>
                  <a:tcPr marL="95250" marR="95250" marT="47625" marB="47625" anchor="ctr">
                    <a:solidFill>
                      <a:srgbClr val="EEF2F4"/>
                    </a:solidFill>
                  </a:tcPr>
                </a:tc>
                <a:tc>
                  <a:txBody>
                    <a:bodyPr/>
                    <a:lstStyle/>
                    <a:p>
                      <a:r>
                        <a:rPr sz="1200">
                          <a:solidFill>
                            <a:srgbClr val="18222C"/>
                          </a:solidFill>
                        </a:rPr>
                        <a:t>4.109</a:t>
                      </a:r>
                    </a:p>
                  </a:txBody>
                  <a:tcPr marL="95250" marR="95250" marT="47625" marB="47625" anchor="ctr">
                    <a:solidFill>
                      <a:srgbClr val="EEF2F4"/>
                    </a:solidFill>
                  </a:tcPr>
                </a:tc>
                <a:tc>
                  <a:txBody>
                    <a:bodyPr/>
                    <a:lstStyle/>
                    <a:p>
                      <a:r>
                        <a:rPr sz="1200">
                          <a:solidFill>
                            <a:srgbClr val="18222C"/>
                          </a:solidFill>
                        </a:rPr>
                        <a:t>4.323</a:t>
                      </a:r>
                    </a:p>
                  </a:txBody>
                  <a:tcPr marL="95250" marR="95250" marT="47625" marB="47625" anchor="ctr">
                    <a:solidFill>
                      <a:srgbClr val="EEF2F4"/>
                    </a:solidFill>
                  </a:tcPr>
                </a:tc>
                <a:tc>
                  <a:txBody>
                    <a:bodyPr/>
                    <a:lstStyle/>
                    <a:p>
                      <a:r>
                        <a:rPr sz="1200">
                          <a:solidFill>
                            <a:srgbClr val="18222C"/>
                          </a:solidFill>
                        </a:rPr>
                        <a:t>4.189</a:t>
                      </a:r>
                    </a:p>
                  </a:txBody>
                  <a:tcPr marL="95250" marR="95250" marT="47625" marB="47625" anchor="ctr">
                    <a:solidFill>
                      <a:srgbClr val="EEF2F4"/>
                    </a:solidFill>
                  </a:tcPr>
                </a:tc>
              </a:tr>
              <a:tr h="579120">
                <a:tc>
                  <a:txBody>
                    <a:bodyPr/>
                    <a:lstStyle/>
                    <a:p>
                      <a:r>
                        <a:rPr sz="1200">
                          <a:solidFill>
                            <a:srgbClr val="18222C"/>
                          </a:solidFill>
                        </a:rPr>
                        <a:t>eta 0.2, H 3</a:t>
                      </a:r>
                    </a:p>
                  </a:txBody>
                  <a:tcPr marL="95250" marR="95250" marT="47625" marB="47625" anchor="ctr">
                    <a:solidFill>
                      <a:srgbClr val="FFF4D6"/>
                    </a:solidFill>
                  </a:tcPr>
                </a:tc>
                <a:tc>
                  <a:txBody>
                    <a:bodyPr/>
                    <a:lstStyle/>
                    <a:p>
                      <a:r>
                        <a:rPr sz="1200">
                          <a:solidFill>
                            <a:srgbClr val="18222C"/>
                          </a:solidFill>
                        </a:rPr>
                        <a:t>4.009</a:t>
                      </a:r>
                    </a:p>
                  </a:txBody>
                  <a:tcPr marL="95250" marR="95250" marT="47625" marB="47625" anchor="ctr">
                    <a:solidFill>
                      <a:srgbClr val="FFF4D6"/>
                    </a:solidFill>
                  </a:tcPr>
                </a:tc>
                <a:tc>
                  <a:txBody>
                    <a:bodyPr/>
                    <a:lstStyle/>
                    <a:p>
                      <a:r>
                        <a:rPr sz="1200">
                          <a:solidFill>
                            <a:srgbClr val="18222C"/>
                          </a:solidFill>
                        </a:rPr>
                        <a:t>4.574</a:t>
                      </a:r>
                    </a:p>
                  </a:txBody>
                  <a:tcPr marL="95250" marR="95250" marT="47625" marB="47625" anchor="ctr">
                    <a:solidFill>
                      <a:srgbClr val="FFF4D6"/>
                    </a:solidFill>
                  </a:tcPr>
                </a:tc>
                <a:tc>
                  <a:txBody>
                    <a:bodyPr/>
                    <a:lstStyle/>
                    <a:p>
                      <a:r>
                        <a:rPr sz="1200">
                          <a:solidFill>
                            <a:srgbClr val="18222C"/>
                          </a:solidFill>
                        </a:rPr>
                        <a:t>4.219</a:t>
                      </a:r>
                    </a:p>
                  </a:txBody>
                  <a:tcPr marL="95250" marR="95250" marT="47625" marB="47625" anchor="ctr">
                    <a:solidFill>
                      <a:srgbClr val="FFF4D6"/>
                    </a:solidFill>
                  </a:tcPr>
                </a:tc>
              </a:tr>
              <a:tr h="579120">
                <a:tc>
                  <a:txBody>
                    <a:bodyPr/>
                    <a:lstStyle/>
                    <a:p>
                      <a:r>
                        <a:rPr sz="1200">
                          <a:solidFill>
                            <a:srgbClr val="18222C"/>
                          </a:solidFill>
                        </a:rPr>
                        <a:t>eta 0.2, H 2</a:t>
                      </a:r>
                    </a:p>
                  </a:txBody>
                  <a:tcPr marL="95250" marR="95250" marT="47625" marB="47625" anchor="ctr">
                    <a:solidFill>
                      <a:srgbClr val="EEF2F4"/>
                    </a:solidFill>
                  </a:tcPr>
                </a:tc>
                <a:tc>
                  <a:txBody>
                    <a:bodyPr/>
                    <a:lstStyle/>
                    <a:p>
                      <a:r>
                        <a:rPr sz="1200">
                          <a:solidFill>
                            <a:srgbClr val="18222C"/>
                          </a:solidFill>
                        </a:rPr>
                        <a:t>4.093</a:t>
                      </a:r>
                    </a:p>
                  </a:txBody>
                  <a:tcPr marL="95250" marR="95250" marT="47625" marB="47625" anchor="ctr">
                    <a:solidFill>
                      <a:srgbClr val="EEF2F4"/>
                    </a:solidFill>
                  </a:tcPr>
                </a:tc>
                <a:tc>
                  <a:txBody>
                    <a:bodyPr/>
                    <a:lstStyle/>
                    <a:p>
                      <a:r>
                        <a:rPr sz="1200">
                          <a:solidFill>
                            <a:srgbClr val="18222C"/>
                          </a:solidFill>
                        </a:rPr>
                        <a:t>4.304</a:t>
                      </a:r>
                    </a:p>
                  </a:txBody>
                  <a:tcPr marL="95250" marR="95250" marT="47625" marB="47625" anchor="ctr">
                    <a:solidFill>
                      <a:srgbClr val="EEF2F4"/>
                    </a:solidFill>
                  </a:tcPr>
                </a:tc>
                <a:tc>
                  <a:txBody>
                    <a:bodyPr/>
                    <a:lstStyle/>
                    <a:p>
                      <a:r>
                        <a:rPr sz="1200">
                          <a:solidFill>
                            <a:srgbClr val="18222C"/>
                          </a:solidFill>
                        </a:rPr>
                        <a:t>4.172</a:t>
                      </a:r>
                    </a:p>
                  </a:txBody>
                  <a:tcPr marL="95250" marR="95250" marT="47625" marB="47625" anchor="ctr">
                    <a:solidFill>
                      <a:srgbClr val="EEF2F4"/>
                    </a:solidFill>
                  </a:tcPr>
                </a:tc>
              </a:tr>
            </a:tbl>
          </a:graphicData>
        </a:graphic>
      </p:graphicFrame>
      <p:sp>
        <p:nvSpPr>
          <p:cNvPr id="5" name="">
            <a:extLst xmlns:a="http://schemas.openxmlformats.org/drawingml/2006/main">
              <a:ext uri="{FF2B5EF4-FFF2-40B4-BE49-F238E27FC236}">
                <a16:creationId xmlns:a16="http://schemas.microsoft.com/office/drawing/2014/main" id="{43B6C405-8318-433B-81B2-D78A2F4E1DE7}"/>
              </a:ext>
            </a:extLst>
          </p:cNvPr>
          <p:cNvSpPr>
            <a:spLocks xmlns:a="http://schemas.openxmlformats.org/drawingml/2006/main" noGrp="1"/>
          </p:cNvSpPr>
          <p:nvPr/>
        </p:nvSpPr>
        <p:spPr>
          <a:xfrm xmlns:a="http://schemas.openxmlformats.org/drawingml/2006/main">
            <a:off x="1200150" y="4762500"/>
            <a:ext cx="9791700" cy="590550"/>
          </a:xfrm>
          <a:prstGeom xmlns:a="http://schemas.openxmlformats.org/drawingml/2006/main" prst="roundRect">
            <a:avLst>
              <a:gd name="adj" fmla="val 25806"/>
            </a:avLst>
          </a:prstGeom>
          <a:solidFill xmlns:a="http://schemas.openxmlformats.org/drawingml/2006/main">
            <a:srgbClr val="DCEEEF"/>
          </a:solidFill>
          <a:ln xmlns:a="http://schemas.openxmlformats.org/drawingml/2006/main" w="0">
            <a:noFill/>
            <a:prstDash val="solid"/>
          </a:ln>
        </p:spPr>
        <p:txBody>
          <a:bodyPr xmlns:a="http://schemas.openxmlformats.org/drawingml/2006/main" lIns="171450" tIns="76200" rIns="171450" bIns="76200" anchor="ctr"/>
          <a:lstStyle xmlns:a="http://schemas.openxmlformats.org/drawingml/2006/main"/>
          <a:p xmlns:a="http://schemas.openxmlformats.org/drawingml/2006/main">
            <a:pPr algn="l">
              <a:defRPr sz="1425" b="1">
                <a:solidFill>
                  <a:srgbClr val="17324D"/>
                </a:solidFill>
                <a:latin typeface="Aptos"/>
                <a:ea typeface="Aptos"/>
                <a:cs typeface="Aptos"/>
              </a:defRPr>
            </a:pPr>
            <a:r>
              <a:rPr sz="1425" b="1">
                <a:solidFill>
                  <a:srgbClr val="17324D"/>
                </a:solidFill>
                <a:latin typeface="Aptos"/>
                <a:ea typeface="Aptos"/>
                <a:cs typeface="Aptos"/>
              </a:rPr>
              <a:t>H = 3, eta = 0.2 is the direct AnyLogic validation; other rows are event-equivalent screening estimates.</a:t>
            </a:r>
          </a:p>
        </p:txBody>
      </p:sp>
      <p:sp>
        <p:nvSpPr>
          <p:cNvPr id="6" name="">
            <a:extLst xmlns:a="http://schemas.openxmlformats.org/drawingml/2006/main">
              <a:ext uri="{FF2B5EF4-FFF2-40B4-BE49-F238E27FC236}">
                <a16:creationId xmlns:a16="http://schemas.microsoft.com/office/drawing/2014/main" id="{DAD934B2-885A-4DC8-ADEA-47DB96DCD1E3}"/>
              </a:ext>
            </a:extLst>
          </p:cNvPr>
          <p:cNvSpPr>
            <a:spLocks xmlns:a="http://schemas.openxmlformats.org/drawingml/2006/main" noGrp="1"/>
          </p:cNvSpPr>
          <p:nvPr/>
        </p:nvSpPr>
        <p:spPr>
          <a:xfrm xmlns:a="http://schemas.openxmlformats.org/drawingml/2006/main">
            <a:off x="1200150" y="5562600"/>
            <a:ext cx="979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23A48"/>
                </a:solidFill>
                <a:latin typeface="Aptos"/>
                <a:ea typeface="Aptos"/>
                <a:cs typeface="Aptos"/>
              </a:defRPr>
            </a:pPr>
            <a:r>
              <a:rPr sz="1350" b="1">
                <a:solidFill>
                  <a:srgbClr val="B23A48"/>
                </a:solidFill>
                <a:latin typeface="Aptos"/>
                <a:ea typeface="Aptos"/>
                <a:cs typeface="Aptos"/>
              </a:rPr>
              <a:t>H = 4 was too aggressive under 98% load.</a:t>
            </a:r>
          </a:p>
        </p:txBody>
      </p:sp>
      <p:sp>
        <p:nvSpPr>
          <p:cNvPr id="7" name="">
            <a:extLst xmlns:a="http://schemas.openxmlformats.org/drawingml/2006/main">
              <a:ext uri="{FF2B5EF4-FFF2-40B4-BE49-F238E27FC236}">
                <a16:creationId xmlns:a16="http://schemas.microsoft.com/office/drawing/2014/main" id="{B7F4296F-C72D-4846-BF07-4E364126ED65}"/>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8" name="source-footer">
            <a:extLst xmlns:a="http://schemas.openxmlformats.org/drawingml/2006/main">
              <a:ext uri="{FF2B5EF4-FFF2-40B4-BE49-F238E27FC236}">
                <a16:creationId xmlns:a16="http://schemas.microsoft.com/office/drawing/2014/main" id="{5A5503EC-3D14-4601-89DB-6B55D3BAFE03}"/>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Report Table 3 and Q4 direct output.</a:t>
            </a:r>
          </a:p>
        </p:txBody>
      </p:sp>
      <p:sp>
        <p:nvSpPr>
          <p:cNvPr id="9" name="slide-number">
            <a:extLst xmlns:a="http://schemas.openxmlformats.org/drawingml/2006/main">
              <a:ext uri="{FF2B5EF4-FFF2-40B4-BE49-F238E27FC236}">
                <a16:creationId xmlns:a16="http://schemas.microsoft.com/office/drawing/2014/main" id="{B51AF8DF-C83F-4862-85A2-9CB4FF30C1C6}"/>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12</a:t>
            </a:r>
          </a:p>
        </p:txBody>
      </p:sp>
    </p:spTree>
    <p:extLst>
      <p:ext uri="{BB962C8B-B14F-4D97-AF65-F5344CB8AC3E}">
        <p14:creationId xmlns:p14="http://schemas.microsoft.com/office/powerpoint/2010/main" val="215979258"/>
      </p:ext>
    </p:extLst>
  </p:cSld>
</p:sld>
</file>

<file path=ppt/slides/slide13.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8FB3EA6E-C356-4F8E-8EE0-EE2CC1A2C954}"/>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The AnyLogic models differ only at the scheduling decision</a:t>
            </a:r>
          </a:p>
        </p:txBody>
      </p:sp>
      <p:sp>
        <p:nvSpPr>
          <p:cNvPr id="2" name="backup-label">
            <a:extLst xmlns:a="http://schemas.openxmlformats.org/drawingml/2006/main">
              <a:ext uri="{FF2B5EF4-FFF2-40B4-BE49-F238E27FC236}">
                <a16:creationId xmlns:a16="http://schemas.microsoft.com/office/drawing/2014/main" id="{D3645542-2510-4449-9A4B-D5DAD37761FF}"/>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949C80B2-9083-471B-ADB5-20EDA903BB0F}"/>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4" name="shared-model">
            <a:extLst xmlns:a="http://schemas.openxmlformats.org/drawingml/2006/main">
              <a:ext uri="{FF2B5EF4-FFF2-40B4-BE49-F238E27FC236}">
                <a16:creationId xmlns:a16="http://schemas.microsoft.com/office/drawing/2014/main" id="{86345F3A-F80B-4549-842E-3F9AA8634862}"/>
              </a:ext>
            </a:extLst>
          </p:cNvPr>
          <p:cNvSpPr>
            <a:spLocks xmlns:a="http://schemas.openxmlformats.org/drawingml/2006/main" noGrp="1"/>
          </p:cNvSpPr>
          <p:nvPr/>
        </p:nvSpPr>
        <p:spPr>
          <a:xfrm xmlns:a="http://schemas.openxmlformats.org/drawingml/2006/main">
            <a:off x="1885950" y="1524000"/>
            <a:ext cx="8420100" cy="876300"/>
          </a:xfrm>
          <a:prstGeom xmlns:a="http://schemas.openxmlformats.org/drawingml/2006/main" prst="roundRect">
            <a:avLst>
              <a:gd name="adj" fmla="val 23913"/>
            </a:avLst>
          </a:prstGeom>
          <a:solidFill xmlns:a="http://schemas.openxmlformats.org/drawingml/2006/main">
            <a:srgbClr val="17324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A25C09-98AE-4F30-B817-4DC9BA560B1E}"/>
              </a:ext>
            </a:extLst>
          </p:cNvPr>
          <p:cNvSpPr>
            <a:spLocks xmlns:a="http://schemas.openxmlformats.org/drawingml/2006/main" noGrp="1"/>
          </p:cNvSpPr>
          <p:nvPr/>
        </p:nvSpPr>
        <p:spPr>
          <a:xfrm xmlns:a="http://schemas.openxmlformats.org/drawingml/2006/main">
            <a:off x="2209800" y="17335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A9D7D8"/>
                </a:solidFill>
                <a:latin typeface="Aptos"/>
                <a:ea typeface="Aptos"/>
                <a:cs typeface="Aptos"/>
              </a:defRPr>
            </a:pPr>
            <a:r>
              <a:rPr sz="1275" b="1">
                <a:solidFill>
                  <a:srgbClr val="A9D7D8"/>
                </a:solidFill>
                <a:latin typeface="Aptos"/>
                <a:ea typeface="Aptos"/>
                <a:cs typeface="Aptos"/>
              </a:rPr>
              <a:t>SHARED MODEL</a:t>
            </a:r>
          </a:p>
        </p:txBody>
      </p:sp>
      <p:sp>
        <p:nvSpPr>
          <p:cNvPr id="6" name="">
            <a:extLst xmlns:a="http://schemas.openxmlformats.org/drawingml/2006/main">
              <a:ext uri="{FF2B5EF4-FFF2-40B4-BE49-F238E27FC236}">
                <a16:creationId xmlns:a16="http://schemas.microsoft.com/office/drawing/2014/main" id="{001AEF22-1F58-4F40-8E5A-7482F6AB478B}"/>
              </a:ext>
            </a:extLst>
          </p:cNvPr>
          <p:cNvSpPr>
            <a:spLocks xmlns:a="http://schemas.openxmlformats.org/drawingml/2006/main" noGrp="1"/>
          </p:cNvSpPr>
          <p:nvPr/>
        </p:nvSpPr>
        <p:spPr>
          <a:xfrm xmlns:a="http://schemas.openxmlformats.org/drawingml/2006/main">
            <a:off x="2209800" y="2019300"/>
            <a:ext cx="777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Aptos"/>
                <a:ea typeface="Aptos"/>
                <a:cs typeface="Aptos"/>
              </a:defRPr>
            </a:pPr>
            <a:r>
              <a:rPr sz="1500" b="0">
                <a:solidFill>
                  <a:srgbClr val="FFFFFF"/>
                </a:solidFill>
                <a:latin typeface="Aptos"/>
                <a:ea typeface="Aptos"/>
                <a:cs typeface="Aptos"/>
              </a:rPr>
              <a:t>arrivals, calendar, warm-up, stopping rule and statistics</a:t>
            </a:r>
          </a:p>
        </p:txBody>
      </p:sp>
      <p:sp>
        <p:nvSpPr>
          <p:cNvPr id="7" name="implementation-Q2">
            <a:extLst xmlns:a="http://schemas.openxmlformats.org/drawingml/2006/main">
              <a:ext uri="{FF2B5EF4-FFF2-40B4-BE49-F238E27FC236}">
                <a16:creationId xmlns:a16="http://schemas.microsoft.com/office/drawing/2014/main" id="{C6D3A1ED-78D2-45BA-83C2-8B8A3669B688}"/>
              </a:ext>
            </a:extLst>
          </p:cNvPr>
          <p:cNvSpPr>
            <a:spLocks xmlns:a="http://schemas.openxmlformats.org/drawingml/2006/main" noGrp="1"/>
          </p:cNvSpPr>
          <p:nvPr/>
        </p:nvSpPr>
        <p:spPr>
          <a:xfrm xmlns:a="http://schemas.openxmlformats.org/drawingml/2006/main">
            <a:off x="781050" y="3429000"/>
            <a:ext cx="314325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687783"/>
            </a:solidFill>
            <a:prstDash val="solid"/>
          </a:ln>
        </p:spPr>
      </p:sp>
      <p:sp>
        <p:nvSpPr>
          <p:cNvPr id="8" name="">
            <a:extLst xmlns:a="http://schemas.openxmlformats.org/drawingml/2006/main">
              <a:ext uri="{FF2B5EF4-FFF2-40B4-BE49-F238E27FC236}">
                <a16:creationId xmlns:a16="http://schemas.microsoft.com/office/drawing/2014/main" id="{83955093-DA0C-439C-82C8-CEE36C2CC878}"/>
              </a:ext>
            </a:extLst>
          </p:cNvPr>
          <p:cNvSpPr>
            <a:spLocks xmlns:a="http://schemas.openxmlformats.org/drawingml/2006/main" noGrp="1"/>
          </p:cNvSpPr>
          <p:nvPr/>
        </p:nvSpPr>
        <p:spPr>
          <a:xfrm xmlns:a="http://schemas.openxmlformats.org/drawingml/2006/main">
            <a:off x="1009650" y="36576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687783"/>
                </a:solidFill>
                <a:latin typeface="Aptos"/>
                <a:ea typeface="Aptos"/>
                <a:cs typeface="Aptos"/>
              </a:defRPr>
            </a:pPr>
            <a:r>
              <a:rPr sz="2325" b="1">
                <a:solidFill>
                  <a:srgbClr val="687783"/>
                </a:solidFill>
                <a:latin typeface="Aptos"/>
                <a:ea typeface="Aptos"/>
                <a:cs typeface="Aptos"/>
              </a:rPr>
              <a:t>Q2</a:t>
            </a:r>
          </a:p>
        </p:txBody>
      </p:sp>
      <p:sp>
        <p:nvSpPr>
          <p:cNvPr id="9" name="">
            <a:extLst xmlns:a="http://schemas.openxmlformats.org/drawingml/2006/main">
              <a:ext uri="{FF2B5EF4-FFF2-40B4-BE49-F238E27FC236}">
                <a16:creationId xmlns:a16="http://schemas.microsoft.com/office/drawing/2014/main" id="{331D179A-A643-46A8-88D4-F1B04788DC7E}"/>
              </a:ext>
            </a:extLst>
          </p:cNvPr>
          <p:cNvSpPr>
            <a:spLocks xmlns:a="http://schemas.openxmlformats.org/drawingml/2006/main" noGrp="1"/>
          </p:cNvSpPr>
          <p:nvPr/>
        </p:nvSpPr>
        <p:spPr>
          <a:xfrm xmlns:a="http://schemas.openxmlformats.org/drawingml/2006/main">
            <a:off x="1009650" y="4171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222C"/>
                </a:solidFill>
                <a:latin typeface="Aptos"/>
                <a:ea typeface="Aptos"/>
                <a:cs typeface="Aptos"/>
              </a:defRPr>
            </a:pPr>
            <a:r>
              <a:rPr sz="1425" b="1">
                <a:solidFill>
                  <a:srgbClr val="18222C"/>
                </a:solidFill>
                <a:latin typeface="Aptos"/>
                <a:ea typeface="Aptos"/>
                <a:cs typeface="Aptos"/>
              </a:rPr>
              <a:t>Earliest available slot</a:t>
            </a:r>
          </a:p>
        </p:txBody>
      </p:sp>
      <p:sp>
        <p:nvSpPr>
          <p:cNvPr id="10" name="implementation-Q3">
            <a:extLst xmlns:a="http://schemas.openxmlformats.org/drawingml/2006/main">
              <a:ext uri="{FF2B5EF4-FFF2-40B4-BE49-F238E27FC236}">
                <a16:creationId xmlns:a16="http://schemas.microsoft.com/office/drawing/2014/main" id="{3D9FBE00-30D5-45B2-B92D-A6DFD037F3DD}"/>
              </a:ext>
            </a:extLst>
          </p:cNvPr>
          <p:cNvSpPr>
            <a:spLocks xmlns:a="http://schemas.openxmlformats.org/drawingml/2006/main" noGrp="1"/>
          </p:cNvSpPr>
          <p:nvPr/>
        </p:nvSpPr>
        <p:spPr>
          <a:xfrm xmlns:a="http://schemas.openxmlformats.org/drawingml/2006/main">
            <a:off x="4533900" y="3429000"/>
            <a:ext cx="314325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007F82"/>
            </a:solidFill>
            <a:prstDash val="solid"/>
          </a:ln>
        </p:spPr>
      </p:sp>
      <p:sp>
        <p:nvSpPr>
          <p:cNvPr id="11" name="">
            <a:extLst xmlns:a="http://schemas.openxmlformats.org/drawingml/2006/main">
              <a:ext uri="{FF2B5EF4-FFF2-40B4-BE49-F238E27FC236}">
                <a16:creationId xmlns:a16="http://schemas.microsoft.com/office/drawing/2014/main" id="{7912FEB0-6DA3-49DA-9394-ACC6281BD1C0}"/>
              </a:ext>
            </a:extLst>
          </p:cNvPr>
          <p:cNvSpPr>
            <a:spLocks xmlns:a="http://schemas.openxmlformats.org/drawingml/2006/main" noGrp="1"/>
          </p:cNvSpPr>
          <p:nvPr/>
        </p:nvSpPr>
        <p:spPr>
          <a:xfrm xmlns:a="http://schemas.openxmlformats.org/drawingml/2006/main">
            <a:off x="4762500" y="36576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07F82"/>
                </a:solidFill>
                <a:latin typeface="Aptos"/>
                <a:ea typeface="Aptos"/>
                <a:cs typeface="Aptos"/>
              </a:defRPr>
            </a:pPr>
            <a:r>
              <a:rPr sz="2325" b="1">
                <a:solidFill>
                  <a:srgbClr val="007F82"/>
                </a:solidFill>
                <a:latin typeface="Aptos"/>
                <a:ea typeface="Aptos"/>
                <a:cs typeface="Aptos"/>
              </a:rPr>
              <a:t>Q3</a:t>
            </a:r>
          </a:p>
        </p:txBody>
      </p:sp>
      <p:sp>
        <p:nvSpPr>
          <p:cNvPr id="12" name="">
            <a:extLst xmlns:a="http://schemas.openxmlformats.org/drawingml/2006/main">
              <a:ext uri="{FF2B5EF4-FFF2-40B4-BE49-F238E27FC236}">
                <a16:creationId xmlns:a16="http://schemas.microsoft.com/office/drawing/2014/main" id="{E033CF09-0C42-46A9-BDB2-E0A906C4794F}"/>
              </a:ext>
            </a:extLst>
          </p:cNvPr>
          <p:cNvSpPr>
            <a:spLocks xmlns:a="http://schemas.openxmlformats.org/drawingml/2006/main" noGrp="1"/>
          </p:cNvSpPr>
          <p:nvPr/>
        </p:nvSpPr>
        <p:spPr>
          <a:xfrm xmlns:a="http://schemas.openxmlformats.org/drawingml/2006/main">
            <a:off x="4762500" y="4171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222C"/>
                </a:solidFill>
                <a:latin typeface="Aptos"/>
                <a:ea typeface="Aptos"/>
                <a:cs typeface="Aptos"/>
              </a:defRPr>
            </a:pPr>
            <a:r>
              <a:rPr sz="1425" b="1">
                <a:solidFill>
                  <a:srgbClr val="18222C"/>
                </a:solidFill>
                <a:latin typeface="Aptos"/>
                <a:ea typeface="Aptos"/>
                <a:cs typeface="Aptos"/>
              </a:rPr>
              <a:t>Backlog-responsive routine postponement</a:t>
            </a:r>
          </a:p>
        </p:txBody>
      </p:sp>
      <p:sp>
        <p:nvSpPr>
          <p:cNvPr id="13" name="implementation-Q4">
            <a:extLst xmlns:a="http://schemas.openxmlformats.org/drawingml/2006/main">
              <a:ext uri="{FF2B5EF4-FFF2-40B4-BE49-F238E27FC236}">
                <a16:creationId xmlns:a16="http://schemas.microsoft.com/office/drawing/2014/main" id="{4B9C1EA8-64C5-4D59-88BC-B68A76F1B495}"/>
              </a:ext>
            </a:extLst>
          </p:cNvPr>
          <p:cNvSpPr>
            <a:spLocks xmlns:a="http://schemas.openxmlformats.org/drawingml/2006/main" noGrp="1"/>
          </p:cNvSpPr>
          <p:nvPr/>
        </p:nvSpPr>
        <p:spPr>
          <a:xfrm xmlns:a="http://schemas.openxmlformats.org/drawingml/2006/main">
            <a:off x="8286750" y="3429000"/>
            <a:ext cx="314325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17324D"/>
            </a:solidFill>
            <a:prstDash val="solid"/>
          </a:ln>
        </p:spPr>
      </p:sp>
      <p:sp>
        <p:nvSpPr>
          <p:cNvPr id="14" name="">
            <a:extLst xmlns:a="http://schemas.openxmlformats.org/drawingml/2006/main">
              <a:ext uri="{FF2B5EF4-FFF2-40B4-BE49-F238E27FC236}">
                <a16:creationId xmlns:a16="http://schemas.microsoft.com/office/drawing/2014/main" id="{9DC5C578-72C2-4920-84ED-D7544154D6E3}"/>
              </a:ext>
            </a:extLst>
          </p:cNvPr>
          <p:cNvSpPr>
            <a:spLocks xmlns:a="http://schemas.openxmlformats.org/drawingml/2006/main" noGrp="1"/>
          </p:cNvSpPr>
          <p:nvPr/>
        </p:nvSpPr>
        <p:spPr>
          <a:xfrm xmlns:a="http://schemas.openxmlformats.org/drawingml/2006/main">
            <a:off x="8515350" y="36576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7324D"/>
                </a:solidFill>
                <a:latin typeface="Aptos"/>
                <a:ea typeface="Aptos"/>
                <a:cs typeface="Aptos"/>
              </a:defRPr>
            </a:pPr>
            <a:r>
              <a:rPr sz="2325" b="1">
                <a:solidFill>
                  <a:srgbClr val="17324D"/>
                </a:solidFill>
                <a:latin typeface="Aptos"/>
                <a:ea typeface="Aptos"/>
                <a:cs typeface="Aptos"/>
              </a:rPr>
              <a:t>Q4</a:t>
            </a:r>
          </a:p>
        </p:txBody>
      </p:sp>
      <p:sp>
        <p:nvSpPr>
          <p:cNvPr id="15" name="">
            <a:extLst xmlns:a="http://schemas.openxmlformats.org/drawingml/2006/main">
              <a:ext uri="{FF2B5EF4-FFF2-40B4-BE49-F238E27FC236}">
                <a16:creationId xmlns:a16="http://schemas.microsoft.com/office/drawing/2014/main" id="{3AD0B2D3-2C5C-4B6F-8881-688B497BB187}"/>
              </a:ext>
            </a:extLst>
          </p:cNvPr>
          <p:cNvSpPr>
            <a:spLocks xmlns:a="http://schemas.openxmlformats.org/drawingml/2006/main" noGrp="1"/>
          </p:cNvSpPr>
          <p:nvPr/>
        </p:nvSpPr>
        <p:spPr>
          <a:xfrm xmlns:a="http://schemas.openxmlformats.org/drawingml/2006/main">
            <a:off x="8515350" y="41719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8222C"/>
                </a:solidFill>
                <a:latin typeface="Aptos"/>
                <a:ea typeface="Aptos"/>
                <a:cs typeface="Aptos"/>
              </a:defRPr>
            </a:pPr>
            <a:r>
              <a:rPr sz="1425" b="1">
                <a:solidFill>
                  <a:srgbClr val="18222C"/>
                </a:solidFill>
                <a:latin typeface="Aptos"/>
                <a:ea typeface="Aptos"/>
                <a:cs typeface="Aptos"/>
              </a:rPr>
              <a:t>Release and OCR rebooking event</a:t>
            </a:r>
          </a:p>
        </p:txBody>
      </p:sp>
      <p:cxnSp>
        <p:nvCxnSpPr>
          <p:cNvPr id="38" name=""/>
          <p:cNvCxnSpPr>
            <a:stCxn xmlns:a="http://schemas.openxmlformats.org/drawingml/2006/main" id="4" idx="2"/>
            <a:endCxn xmlns:a="http://schemas.openxmlformats.org/drawingml/2006/main" id="7" idx="0"/>
          </p:cNvCxnSpPr>
          <p:nvPr/>
        </p:nvCxnSpPr>
        <p:spPr>
          <a:xfrm xmlns:a="http://schemas.openxmlformats.org/drawingml/2006/main" flipH="1">
            <a:off x="2352675" y="2400300"/>
            <a:ext cx="3743325" cy="1028700"/>
          </a:xfrm>
          <a:prstGeom xmlns:a="http://schemas.openxmlformats.org/drawingml/2006/main" prst="bentConnector4">
            <a:avLst>
              <a:gd name="adj1" fmla="val 0"/>
              <a:gd name="adj2" fmla="val 50000"/>
            </a:avLst>
          </a:prstGeom>
          <a:ln xmlns:a="http://schemas.openxmlformats.org/drawingml/2006/main" w="19050">
            <a:solidFill>
              <a:srgbClr val="007F82"/>
            </a:solidFill>
            <a:prstDash val="solid"/>
            <a:tailEnd type="arrow" w="sm" len="sm"/>
          </a:ln>
        </p:spPr>
      </p:cxnSp>
      <p:cxnSp>
        <p:nvCxnSpPr>
          <p:cNvPr id="39" name=""/>
          <p:cNvCxnSpPr>
            <a:stCxn xmlns:a="http://schemas.openxmlformats.org/drawingml/2006/main" id="4" idx="2"/>
            <a:endCxn xmlns:a="http://schemas.openxmlformats.org/drawingml/2006/main" id="10" idx="0"/>
          </p:cNvCxnSpPr>
          <p:nvPr/>
        </p:nvCxnSpPr>
        <p:spPr>
          <a:xfrm xmlns:a="http://schemas.openxmlformats.org/drawingml/2006/main">
            <a:off x="6096000" y="2400300"/>
            <a:ext cx="9525" cy="1028700"/>
          </a:xfrm>
          <a:prstGeom xmlns:a="http://schemas.openxmlformats.org/drawingml/2006/main" prst="bentConnector4">
            <a:avLst>
              <a:gd name="adj1" fmla="val 0"/>
              <a:gd name="adj2" fmla="val 50000"/>
            </a:avLst>
          </a:prstGeom>
          <a:ln xmlns:a="http://schemas.openxmlformats.org/drawingml/2006/main" w="19050">
            <a:solidFill>
              <a:srgbClr val="007F82"/>
            </a:solidFill>
            <a:prstDash val="solid"/>
            <a:tailEnd type="arrow" w="sm" len="sm"/>
          </a:ln>
        </p:spPr>
      </p:cxnSp>
      <p:cxnSp>
        <p:nvCxnSpPr>
          <p:cNvPr id="40" name=""/>
          <p:cNvCxnSpPr>
            <a:stCxn xmlns:a="http://schemas.openxmlformats.org/drawingml/2006/main" id="4" idx="2"/>
            <a:endCxn xmlns:a="http://schemas.openxmlformats.org/drawingml/2006/main" id="13" idx="0"/>
          </p:cNvCxnSpPr>
          <p:nvPr/>
        </p:nvCxnSpPr>
        <p:spPr>
          <a:xfrm xmlns:a="http://schemas.openxmlformats.org/drawingml/2006/main">
            <a:off x="6096000" y="2400300"/>
            <a:ext cx="3762375" cy="1028700"/>
          </a:xfrm>
          <a:prstGeom xmlns:a="http://schemas.openxmlformats.org/drawingml/2006/main" prst="bentConnector4">
            <a:avLst>
              <a:gd name="adj1" fmla="val 0"/>
              <a:gd name="adj2" fmla="val 50000"/>
            </a:avLst>
          </a:prstGeom>
          <a:ln xmlns:a="http://schemas.openxmlformats.org/drawingml/2006/main" w="19050">
            <a:solidFill>
              <a:srgbClr val="007F82"/>
            </a:solidFill>
            <a:prstDash val="solid"/>
            <a:tailEnd type="arrow" w="sm" len="sm"/>
          </a:ln>
        </p:spPr>
      </p:cxnSp>
      <p:sp>
        <p:nvSpPr>
          <p:cNvPr id="19" name="">
            <a:extLst xmlns:a="http://schemas.openxmlformats.org/drawingml/2006/main">
              <a:ext uri="{FF2B5EF4-FFF2-40B4-BE49-F238E27FC236}">
                <a16:creationId xmlns:a16="http://schemas.microsoft.com/office/drawing/2014/main" id="{31BD16DA-66F2-451C-A9F8-7FB578DEEAF1}"/>
              </a:ext>
            </a:extLst>
          </p:cNvPr>
          <p:cNvSpPr>
            <a:spLocks xmlns:a="http://schemas.openxmlformats.org/drawingml/2006/main" noGrp="1"/>
          </p:cNvSpPr>
          <p:nvPr/>
        </p:nvSpPr>
        <p:spPr>
          <a:xfrm xmlns:a="http://schemas.openxmlformats.org/drawingml/2006/main">
            <a:off x="1581150" y="5334000"/>
            <a:ext cx="9029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17324D"/>
                </a:solidFill>
                <a:latin typeface="Aptos"/>
                <a:ea typeface="Aptos"/>
                <a:cs typeface="Aptos"/>
              </a:defRPr>
            </a:pPr>
            <a:r>
              <a:rPr sz="1500" b="1">
                <a:solidFill>
                  <a:srgbClr val="17324D"/>
                </a:solidFill>
                <a:latin typeface="Aptos"/>
                <a:ea typeface="Aptos"/>
                <a:cs typeface="Aptos"/>
              </a:rPr>
              <a:t>Independent replications use explicit random seeds and the same output definitions.</a:t>
            </a:r>
          </a:p>
        </p:txBody>
      </p:sp>
      <p:sp>
        <p:nvSpPr>
          <p:cNvPr id="20" name="">
            <a:extLst xmlns:a="http://schemas.openxmlformats.org/drawingml/2006/main">
              <a:ext uri="{FF2B5EF4-FFF2-40B4-BE49-F238E27FC236}">
                <a16:creationId xmlns:a16="http://schemas.microsoft.com/office/drawing/2014/main" id="{D731739D-6432-440F-B1A3-642D3D786BC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21" name="source-footer">
            <a:extLst xmlns:a="http://schemas.openxmlformats.org/drawingml/2006/main">
              <a:ext uri="{FF2B5EF4-FFF2-40B4-BE49-F238E27FC236}">
                <a16:creationId xmlns:a16="http://schemas.microsoft.com/office/drawing/2014/main" id="{01463ADD-91DB-4076-87AE-461FA2E42BDF}"/>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Submitted Q2, Q3 and Q4 AnyLogic model structures.</a:t>
            </a:r>
          </a:p>
        </p:txBody>
      </p:sp>
      <p:sp>
        <p:nvSpPr>
          <p:cNvPr id="22" name="slide-number">
            <a:extLst xmlns:a="http://schemas.openxmlformats.org/drawingml/2006/main">
              <a:ext uri="{FF2B5EF4-FFF2-40B4-BE49-F238E27FC236}">
                <a16:creationId xmlns:a16="http://schemas.microsoft.com/office/drawing/2014/main" id="{8654AF13-3FF1-4E19-86F0-8A4190000471}"/>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13</a:t>
            </a:r>
          </a:p>
        </p:txBody>
      </p:sp>
    </p:spTree>
    <p:extLst>
      <p:ext uri="{BB962C8B-B14F-4D97-AF65-F5344CB8AC3E}">
        <p14:creationId xmlns:p14="http://schemas.microsoft.com/office/powerpoint/2010/main" val="9889515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D1A5BB5A-D087-484E-8618-92C9E7A9BEF6}"/>
              </a:ext>
            </a:extLst>
          </p:cNvPr>
          <p:cNvSpPr>
            <a:spLocks xmlns:a="http://schemas.openxmlformats.org/drawingml/2006/main" noGrp="1"/>
          </p:cNvSpPr>
          <p:nvPr/>
        </p:nvSpPr>
        <p:spPr>
          <a:xfrm xmlns:a="http://schemas.openxmlformats.org/drawingml/2006/main">
            <a:off x="685800" y="438150"/>
            <a:ext cx="900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Literature framing and transparent use of AI assistance</a:t>
            </a:r>
          </a:p>
        </p:txBody>
      </p:sp>
      <p:sp>
        <p:nvSpPr>
          <p:cNvPr id="2" name="backup-label">
            <a:extLst xmlns:a="http://schemas.openxmlformats.org/drawingml/2006/main">
              <a:ext uri="{FF2B5EF4-FFF2-40B4-BE49-F238E27FC236}">
                <a16:creationId xmlns:a16="http://schemas.microsoft.com/office/drawing/2014/main" id="{367BD4E3-4C8F-49EB-A32C-224125867001}"/>
              </a:ext>
            </a:extLst>
          </p:cNvPr>
          <p:cNvSpPr>
            <a:spLocks xmlns:a="http://schemas.openxmlformats.org/drawingml/2006/main" noGrp="1"/>
          </p:cNvSpPr>
          <p:nvPr/>
        </p:nvSpPr>
        <p:spPr>
          <a:xfrm xmlns:a="http://schemas.openxmlformats.org/drawingml/2006/main">
            <a:off x="10096500" y="495300"/>
            <a:ext cx="1409700" cy="323850"/>
          </a:xfrm>
          <a:prstGeom xmlns:a="http://schemas.openxmlformats.org/drawingml/2006/main" prst="roundRect">
            <a:avLst>
              <a:gd name="adj" fmla="val 50000"/>
            </a:avLst>
          </a:prstGeom>
          <a:solidFill xmlns:a="http://schemas.openxmlformats.org/drawingml/2006/main">
            <a:srgbClr val="17324D"/>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BACKUP</a:t>
            </a:r>
          </a:p>
        </p:txBody>
      </p:sp>
      <p:sp>
        <p:nvSpPr>
          <p:cNvPr id="3" name="">
            <a:extLst xmlns:a="http://schemas.openxmlformats.org/drawingml/2006/main">
              <a:ext uri="{FF2B5EF4-FFF2-40B4-BE49-F238E27FC236}">
                <a16:creationId xmlns:a16="http://schemas.microsoft.com/office/drawing/2014/main" id="{49B35C4A-6DE0-424F-98C3-ACC4EE5EF497}"/>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B23FD5-F2AE-4E24-97D0-E6A040604D5B}"/>
              </a:ext>
            </a:extLst>
          </p:cNvPr>
          <p:cNvSpPr>
            <a:spLocks xmlns:a="http://schemas.openxmlformats.org/drawingml/2006/main" noGrp="1"/>
          </p:cNvSpPr>
          <p:nvPr/>
        </p:nvSpPr>
        <p:spPr>
          <a:xfrm xmlns:a="http://schemas.openxmlformats.org/drawingml/2006/main">
            <a:off x="800100" y="1619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7324D"/>
                </a:solidFill>
                <a:latin typeface="Aptos"/>
                <a:ea typeface="Aptos"/>
                <a:cs typeface="Aptos"/>
              </a:defRPr>
            </a:pPr>
            <a:r>
              <a:rPr sz="1950" b="1">
                <a:solidFill>
                  <a:srgbClr val="17324D"/>
                </a:solidFill>
                <a:latin typeface="Aptos"/>
                <a:ea typeface="Aptos"/>
                <a:cs typeface="Aptos"/>
              </a:rPr>
              <a:t>How the literature shaped the model</a:t>
            </a:r>
          </a:p>
        </p:txBody>
      </p:sp>
      <p:sp>
        <p:nvSpPr>
          <p:cNvPr id="5" name="">
            <a:extLst xmlns:a="http://schemas.openxmlformats.org/drawingml/2006/main">
              <a:ext uri="{FF2B5EF4-FFF2-40B4-BE49-F238E27FC236}">
                <a16:creationId xmlns:a16="http://schemas.microsoft.com/office/drawing/2014/main" id="{533ECC94-657F-470D-B8F2-5644FF485934}"/>
              </a:ext>
            </a:extLst>
          </p:cNvPr>
          <p:cNvSpPr>
            <a:spLocks xmlns:a="http://schemas.openxmlformats.org/drawingml/2006/main" noGrp="1"/>
          </p:cNvSpPr>
          <p:nvPr/>
        </p:nvSpPr>
        <p:spPr>
          <a:xfrm xmlns:a="http://schemas.openxmlformats.org/drawingml/2006/main">
            <a:off x="838200" y="2266950"/>
            <a:ext cx="171450" cy="171450"/>
          </a:xfrm>
          <a:prstGeom xmlns:a="http://schemas.openxmlformats.org/drawingml/2006/main" prst="ellipse">
            <a:avLst/>
          </a:prstGeom>
          <a:solidFill xmlns:a="http://schemas.openxmlformats.org/drawingml/2006/main">
            <a:srgbClr val="007F8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84FBA0-D7A6-4029-A6A7-11292A2510B8}"/>
              </a:ext>
            </a:extLst>
          </p:cNvPr>
          <p:cNvSpPr>
            <a:spLocks xmlns:a="http://schemas.openxmlformats.org/drawingml/2006/main" noGrp="1"/>
          </p:cNvSpPr>
          <p:nvPr/>
        </p:nvSpPr>
        <p:spPr>
          <a:xfrm xmlns:a="http://schemas.openxmlformats.org/drawingml/2006/main">
            <a:off x="1200150" y="215265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18222C"/>
                </a:solidFill>
                <a:latin typeface="Aptos"/>
                <a:ea typeface="Aptos"/>
                <a:cs typeface="Aptos"/>
              </a:defRPr>
            </a:pPr>
            <a:r>
              <a:rPr sz="1425" b="0">
                <a:solidFill>
                  <a:srgbClr val="18222C"/>
                </a:solidFill>
                <a:latin typeface="Aptos"/>
                <a:ea typeface="Aptos"/>
                <a:cs typeface="Aptos"/>
              </a:rPr>
              <a:t>Reviews: Cayirli &amp; Veral (2003); Gupta &amp; Denton (2008); Ahmadi-Javid et al. (2017)</a:t>
            </a:r>
          </a:p>
        </p:txBody>
      </p:sp>
      <p:sp>
        <p:nvSpPr>
          <p:cNvPr id="7" name="">
            <a:extLst xmlns:a="http://schemas.openxmlformats.org/drawingml/2006/main">
              <a:ext uri="{FF2B5EF4-FFF2-40B4-BE49-F238E27FC236}">
                <a16:creationId xmlns:a16="http://schemas.microsoft.com/office/drawing/2014/main" id="{BA9CE17B-6203-47BF-BFE2-FED8F2315A40}"/>
              </a:ext>
            </a:extLst>
          </p:cNvPr>
          <p:cNvSpPr>
            <a:spLocks xmlns:a="http://schemas.openxmlformats.org/drawingml/2006/main" noGrp="1"/>
          </p:cNvSpPr>
          <p:nvPr/>
        </p:nvSpPr>
        <p:spPr>
          <a:xfrm xmlns:a="http://schemas.openxmlformats.org/drawingml/2006/main">
            <a:off x="838200" y="3086100"/>
            <a:ext cx="171450" cy="171450"/>
          </a:xfrm>
          <a:prstGeom xmlns:a="http://schemas.openxmlformats.org/drawingml/2006/main" prst="ellipse">
            <a:avLst/>
          </a:prstGeom>
          <a:solidFill xmlns:a="http://schemas.openxmlformats.org/drawingml/2006/main">
            <a:srgbClr val="007F8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D4A5B7-C640-4FC0-A95B-5896DA00BE1A}"/>
              </a:ext>
            </a:extLst>
          </p:cNvPr>
          <p:cNvSpPr>
            <a:spLocks xmlns:a="http://schemas.openxmlformats.org/drawingml/2006/main" noGrp="1"/>
          </p:cNvSpPr>
          <p:nvPr/>
        </p:nvSpPr>
        <p:spPr>
          <a:xfrm xmlns:a="http://schemas.openxmlformats.org/drawingml/2006/main">
            <a:off x="1200150" y="297180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18222C"/>
                </a:solidFill>
                <a:latin typeface="Aptos"/>
                <a:ea typeface="Aptos"/>
                <a:cs typeface="Aptos"/>
              </a:defRPr>
            </a:pPr>
            <a:r>
              <a:rPr sz="1425" b="0">
                <a:solidFill>
                  <a:srgbClr val="18222C"/>
                </a:solidFill>
                <a:latin typeface="Aptos"/>
                <a:ea typeface="Aptos"/>
                <a:cs typeface="Aptos"/>
              </a:rPr>
              <a:t>Capacity protection: Dobson et al. (2011); Creemers et al. (2012)</a:t>
            </a:r>
          </a:p>
        </p:txBody>
      </p:sp>
      <p:sp>
        <p:nvSpPr>
          <p:cNvPr id="9" name="">
            <a:extLst xmlns:a="http://schemas.openxmlformats.org/drawingml/2006/main">
              <a:ext uri="{FF2B5EF4-FFF2-40B4-BE49-F238E27FC236}">
                <a16:creationId xmlns:a16="http://schemas.microsoft.com/office/drawing/2014/main" id="{3BC0184E-34AB-444B-B124-85B97FC8389E}"/>
              </a:ext>
            </a:extLst>
          </p:cNvPr>
          <p:cNvSpPr>
            <a:spLocks xmlns:a="http://schemas.openxmlformats.org/drawingml/2006/main" noGrp="1"/>
          </p:cNvSpPr>
          <p:nvPr/>
        </p:nvSpPr>
        <p:spPr>
          <a:xfrm xmlns:a="http://schemas.openxmlformats.org/drawingml/2006/main">
            <a:off x="838200" y="3905250"/>
            <a:ext cx="171450" cy="171450"/>
          </a:xfrm>
          <a:prstGeom xmlns:a="http://schemas.openxmlformats.org/drawingml/2006/main" prst="ellipse">
            <a:avLst/>
          </a:prstGeom>
          <a:solidFill xmlns:a="http://schemas.openxmlformats.org/drawingml/2006/main">
            <a:srgbClr val="007F8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67CE072-F5FF-47ED-9BBE-EE93A9DAB4A0}"/>
              </a:ext>
            </a:extLst>
          </p:cNvPr>
          <p:cNvSpPr>
            <a:spLocks xmlns:a="http://schemas.openxmlformats.org/drawingml/2006/main" noGrp="1"/>
          </p:cNvSpPr>
          <p:nvPr/>
        </p:nvSpPr>
        <p:spPr>
          <a:xfrm xmlns:a="http://schemas.openxmlformats.org/drawingml/2006/main">
            <a:off x="1200150" y="379095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18222C"/>
                </a:solidFill>
                <a:latin typeface="Aptos"/>
                <a:ea typeface="Aptos"/>
                <a:cs typeface="Aptos"/>
              </a:defRPr>
            </a:pPr>
            <a:r>
              <a:rPr sz="1425" b="0">
                <a:solidFill>
                  <a:srgbClr val="18222C"/>
                </a:solidFill>
                <a:latin typeface="Aptos"/>
                <a:ea typeface="Aptos"/>
                <a:cs typeface="Aptos"/>
              </a:rPr>
              <a:t>Dynamic scheduling: Patrick et al. (2008); Keyvanshokooh et al. (2021)</a:t>
            </a:r>
          </a:p>
        </p:txBody>
      </p:sp>
      <p:sp>
        <p:nvSpPr>
          <p:cNvPr id="11" name="">
            <a:extLst xmlns:a="http://schemas.openxmlformats.org/drawingml/2006/main">
              <a:ext uri="{FF2B5EF4-FFF2-40B4-BE49-F238E27FC236}">
                <a16:creationId xmlns:a16="http://schemas.microsoft.com/office/drawing/2014/main" id="{C6AF4750-D9F7-4324-8659-2C080B8CCDE8}"/>
              </a:ext>
            </a:extLst>
          </p:cNvPr>
          <p:cNvSpPr>
            <a:spLocks xmlns:a="http://schemas.openxmlformats.org/drawingml/2006/main" noGrp="1"/>
          </p:cNvSpPr>
          <p:nvPr/>
        </p:nvSpPr>
        <p:spPr>
          <a:xfrm xmlns:a="http://schemas.openxmlformats.org/drawingml/2006/main">
            <a:off x="7448550" y="1619250"/>
            <a:ext cx="3790950" cy="3295650"/>
          </a:xfrm>
          <a:prstGeom xmlns:a="http://schemas.openxmlformats.org/drawingml/2006/main" prst="roundRect">
            <a:avLst>
              <a:gd name="adj" fmla="val 6936"/>
            </a:avLst>
          </a:prstGeom>
          <a:solidFill xmlns:a="http://schemas.openxmlformats.org/drawingml/2006/main">
            <a:srgbClr val="EEF2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24DA29-72BF-41C8-A60D-C21315E0F4A1}"/>
              </a:ext>
            </a:extLst>
          </p:cNvPr>
          <p:cNvSpPr>
            <a:spLocks xmlns:a="http://schemas.openxmlformats.org/drawingml/2006/main" noGrp="1"/>
          </p:cNvSpPr>
          <p:nvPr/>
        </p:nvSpPr>
        <p:spPr>
          <a:xfrm xmlns:a="http://schemas.openxmlformats.org/drawingml/2006/main">
            <a:off x="7810500" y="20002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07F82"/>
                </a:solidFill>
                <a:latin typeface="Aptos"/>
                <a:ea typeface="Aptos"/>
                <a:cs typeface="Aptos"/>
              </a:defRPr>
            </a:pPr>
            <a:r>
              <a:rPr sz="2025" b="1">
                <a:solidFill>
                  <a:srgbClr val="007F82"/>
                </a:solidFill>
                <a:latin typeface="Aptos"/>
                <a:ea typeface="Aptos"/>
                <a:cs typeface="Aptos"/>
              </a:rPr>
              <a:t>AI assistance</a:t>
            </a:r>
          </a:p>
        </p:txBody>
      </p:sp>
      <p:sp>
        <p:nvSpPr>
          <p:cNvPr id="13" name="">
            <a:extLst xmlns:a="http://schemas.openxmlformats.org/drawingml/2006/main">
              <a:ext uri="{FF2B5EF4-FFF2-40B4-BE49-F238E27FC236}">
                <a16:creationId xmlns:a16="http://schemas.microsoft.com/office/drawing/2014/main" id="{F8C2E63B-185B-4D45-987E-580074EBCFEE}"/>
              </a:ext>
            </a:extLst>
          </p:cNvPr>
          <p:cNvSpPr>
            <a:spLocks xmlns:a="http://schemas.openxmlformats.org/drawingml/2006/main" noGrp="1"/>
          </p:cNvSpPr>
          <p:nvPr/>
        </p:nvSpPr>
        <p:spPr>
          <a:xfrm xmlns:a="http://schemas.openxmlformats.org/drawingml/2006/main">
            <a:off x="7810500" y="2647950"/>
            <a:ext cx="30670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8222C"/>
                </a:solidFill>
                <a:latin typeface="Aptos"/>
                <a:ea typeface="Aptos"/>
                <a:cs typeface="Aptos"/>
              </a:defRPr>
            </a:pPr>
            <a:r>
              <a:rPr sz="1575" b="0">
                <a:solidFill>
                  <a:srgbClr val="18222C"/>
                </a:solidFill>
                <a:latin typeface="Aptos"/>
                <a:ea typeface="Aptos"/>
                <a:cs typeface="Aptos"/>
              </a:rPr>
              <a:t>AI assistance supported drafting, formatting and checking. Model choices, simulation runs, interpretation and final responsibility remain with the student.</a:t>
            </a:r>
          </a:p>
        </p:txBody>
      </p:sp>
      <p:sp>
        <p:nvSpPr>
          <p:cNvPr id="14" name="">
            <a:extLst xmlns:a="http://schemas.openxmlformats.org/drawingml/2006/main">
              <a:ext uri="{FF2B5EF4-FFF2-40B4-BE49-F238E27FC236}">
                <a16:creationId xmlns:a16="http://schemas.microsoft.com/office/drawing/2014/main" id="{5FB0AABD-DED9-4FA3-8685-AD9688B30D24}"/>
              </a:ext>
            </a:extLst>
          </p:cNvPr>
          <p:cNvSpPr>
            <a:spLocks xmlns:a="http://schemas.openxmlformats.org/drawingml/2006/main" noGrp="1"/>
          </p:cNvSpPr>
          <p:nvPr/>
        </p:nvSpPr>
        <p:spPr>
          <a:xfrm xmlns:a="http://schemas.openxmlformats.org/drawingml/2006/main">
            <a:off x="1257300" y="5372100"/>
            <a:ext cx="9677400" cy="476250"/>
          </a:xfrm>
          <a:prstGeom xmlns:a="http://schemas.openxmlformats.org/drawingml/2006/main" prst="roundRect">
            <a:avLst>
              <a:gd name="adj" fmla="val 40000"/>
            </a:avLst>
          </a:prstGeom>
          <a:solidFill xmlns:a="http://schemas.openxmlformats.org/drawingml/2006/main">
            <a:srgbClr val="DCEEE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17324D"/>
                </a:solidFill>
                <a:latin typeface="Aptos"/>
                <a:ea typeface="Aptos"/>
                <a:cs typeface="Aptos"/>
              </a:defRPr>
            </a:pPr>
            <a:r>
              <a:rPr sz="1500" b="1">
                <a:solidFill>
                  <a:srgbClr val="17324D"/>
                </a:solidFill>
                <a:latin typeface="Aptos"/>
                <a:ea typeface="Aptos"/>
                <a:cs typeface="Aptos"/>
              </a:rPr>
              <a:t>Full bibliography: nine peer-reviewed sources in the submitted report.</a:t>
            </a:r>
          </a:p>
        </p:txBody>
      </p:sp>
      <p:sp>
        <p:nvSpPr>
          <p:cNvPr id="15" name="">
            <a:extLst xmlns:a="http://schemas.openxmlformats.org/drawingml/2006/main">
              <a:ext uri="{FF2B5EF4-FFF2-40B4-BE49-F238E27FC236}">
                <a16:creationId xmlns:a16="http://schemas.microsoft.com/office/drawing/2014/main" id="{B60D99C4-108A-47D8-A65D-F04568CBC8F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6" name="source-footer">
            <a:extLst xmlns:a="http://schemas.openxmlformats.org/drawingml/2006/main">
              <a:ext uri="{FF2B5EF4-FFF2-40B4-BE49-F238E27FC236}">
                <a16:creationId xmlns:a16="http://schemas.microsoft.com/office/drawing/2014/main" id="{85D3E0F8-5DB2-4A54-854B-1EE026A25D07}"/>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87783"/>
                </a:solidFill>
                <a:latin typeface="Aptos"/>
                <a:ea typeface="Aptos"/>
                <a:cs typeface="Aptos"/>
              </a:defRPr>
            </a:pPr>
            <a:r>
              <a:rPr sz="975" b="0">
                <a:solidFill>
                  <a:srgbClr val="687783"/>
                </a:solidFill>
                <a:latin typeface="Aptos"/>
                <a:ea typeface="Aptos"/>
                <a:cs typeface="Aptos"/>
              </a:rPr>
              <a:t>Nine references listed in the submitted report.</a:t>
            </a:r>
          </a:p>
        </p:txBody>
      </p:sp>
      <p:sp>
        <p:nvSpPr>
          <p:cNvPr id="17" name="slide-number">
            <a:extLst xmlns:a="http://schemas.openxmlformats.org/drawingml/2006/main">
              <a:ext uri="{FF2B5EF4-FFF2-40B4-BE49-F238E27FC236}">
                <a16:creationId xmlns:a16="http://schemas.microsoft.com/office/drawing/2014/main" id="{C625993B-D024-4524-A3BC-759DA1BC7817}"/>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a:solidFill>
                  <a:srgbClr val="17324D"/>
                </a:solidFill>
                <a:latin typeface="Aptos"/>
                <a:ea typeface="Aptos"/>
                <a:cs typeface="Aptos"/>
              </a:defRPr>
            </a:pPr>
            <a:r>
              <a:rPr sz="1050" b="1">
                <a:solidFill>
                  <a:srgbClr val="17324D"/>
                </a:solidFill>
                <a:latin typeface="Aptos"/>
                <a:ea typeface="Aptos"/>
                <a:cs typeface="Aptos"/>
              </a:rPr>
              <a:t>14</a:t>
            </a:r>
          </a:p>
        </p:txBody>
      </p:sp>
    </p:spTree>
    <p:extLst>
      <p:ext uri="{BB962C8B-B14F-4D97-AF65-F5344CB8AC3E}">
        <p14:creationId xmlns:p14="http://schemas.microsoft.com/office/powerpoint/2010/main" val="1174671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2026-07-24T19:54:10.1930000Z</dcterms:created>
  <dcterms:modified xsi:type="dcterms:W3CDTF">2026-07-24T19:54:10.1930000Z</dcterms:modified>
</coreProperties>
</file>